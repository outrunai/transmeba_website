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358" r:id="rId2"/>
    <p:sldId id="359" r:id="rId3"/>
    <p:sldId id="360" r:id="rId4"/>
    <p:sldId id="361" r:id="rId5"/>
    <p:sldId id="362" r:id="rId6"/>
    <p:sldId id="363" r:id="rId7"/>
    <p:sldId id="379" r:id="rId8"/>
    <p:sldId id="364" r:id="rId9"/>
    <p:sldId id="365" r:id="rId10"/>
    <p:sldId id="366" r:id="rId11"/>
    <p:sldId id="367" r:id="rId12"/>
    <p:sldId id="368" r:id="rId13"/>
    <p:sldId id="369" r:id="rId14"/>
    <p:sldId id="370" r:id="rId15"/>
    <p:sldId id="371" r:id="rId16"/>
    <p:sldId id="372" r:id="rId17"/>
    <p:sldId id="373" r:id="rId18"/>
    <p:sldId id="382" r:id="rId19"/>
    <p:sldId id="374" r:id="rId20"/>
    <p:sldId id="375" r:id="rId21"/>
    <p:sldId id="376" r:id="rId22"/>
    <p:sldId id="383" r:id="rId23"/>
    <p:sldId id="377" r:id="rId24"/>
    <p:sldId id="378" r:id="rId25"/>
    <p:sldId id="380" r:id="rId26"/>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06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00" autoAdjust="0"/>
    <p:restoredTop sz="94671" autoAdjust="0"/>
  </p:normalViewPr>
  <p:slideViewPr>
    <p:cSldViewPr snapToGrid="0">
      <p:cViewPr varScale="1">
        <p:scale>
          <a:sx n="69" d="100"/>
          <a:sy n="69" d="100"/>
        </p:scale>
        <p:origin x="1158" y="72"/>
      </p:cViewPr>
      <p:guideLst>
        <p:guide orient="horz" pos="2160"/>
        <p:guide pos="2880"/>
      </p:guideLst>
    </p:cSldViewPr>
  </p:slideViewPr>
  <p:outlineViewPr>
    <p:cViewPr>
      <p:scale>
        <a:sx n="33" d="100"/>
        <a:sy n="33" d="100"/>
      </p:scale>
      <p:origin x="0" y="1386"/>
    </p:cViewPr>
  </p:outlin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958333333333333"/>
          <c:y val="3.4375000000000003E-2"/>
          <c:w val="0.72499999999999998"/>
          <c:h val="0.96562499999999996"/>
        </c:manualLayout>
      </c:layout>
      <c:pieChart>
        <c:varyColors val="1"/>
        <c:ser>
          <c:idx val="0"/>
          <c:order val="0"/>
          <c:tx>
            <c:strRef>
              <c:f>Hoja1!$B$1</c:f>
              <c:strCache>
                <c:ptCount val="1"/>
                <c:pt idx="0">
                  <c:v>Ventas</c:v>
                </c:pt>
              </c:strCache>
            </c:strRef>
          </c:tx>
          <c:explosion val="12"/>
          <c:dPt>
            <c:idx val="0"/>
            <c:bubble3D val="0"/>
            <c:spPr>
              <a:solidFill>
                <a:srgbClr val="CA06A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74B0-46A5-BCB3-F6939CBB52AB}"/>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74B0-46A5-BCB3-F6939CBB52AB}"/>
              </c:ext>
            </c:extLst>
          </c:dPt>
          <c:dPt>
            <c:idx val="2"/>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74B0-46A5-BCB3-F6939CBB52AB}"/>
              </c:ext>
            </c:extLst>
          </c:dPt>
          <c:dPt>
            <c:idx val="3"/>
            <c:bubble3D val="0"/>
            <c:spPr>
              <a:solidFill>
                <a:srgbClr val="00B05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74B0-46A5-BCB3-F6939CBB52AB}"/>
              </c:ext>
            </c:extLst>
          </c:dPt>
          <c:dPt>
            <c:idx val="4"/>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74B0-46A5-BCB3-F6939CBB52AB}"/>
              </c:ext>
            </c:extLst>
          </c:dPt>
          <c:dLbls>
            <c:dLbl>
              <c:idx val="0"/>
              <c:layout>
                <c:manualLayout>
                  <c:x val="-0.1527677154285936"/>
                  <c:y val="0.16411522092093114"/>
                </c:manualLayout>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Arial" panose="020B0604020202020204" pitchFamily="34" charset="0"/>
                        <a:ea typeface="+mn-ea"/>
                        <a:cs typeface="Arial" panose="020B0604020202020204" pitchFamily="34" charset="0"/>
                      </a:defRPr>
                    </a:pPr>
                    <a:r>
                      <a:rPr lang="en-US">
                        <a:latin typeface="Arial" panose="020B0604020202020204" pitchFamily="34" charset="0"/>
                        <a:cs typeface="Arial" panose="020B0604020202020204" pitchFamily="34" charset="0"/>
                      </a:rPr>
                      <a:t>GESTION HUMANA</a:t>
                    </a: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4B0-46A5-BCB3-F6939CBB52AB}"/>
                </c:ext>
              </c:extLst>
            </c:dLbl>
            <c:dLbl>
              <c:idx val="1"/>
              <c:layout>
                <c:manualLayout>
                  <c:x val="-0.16831233595800524"/>
                  <c:y val="-9.436318897637784E-2"/>
                </c:manualLayout>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Arial" panose="020B0604020202020204" pitchFamily="34" charset="0"/>
                        <a:ea typeface="+mn-ea"/>
                        <a:cs typeface="Arial" panose="020B0604020202020204" pitchFamily="34" charset="0"/>
                      </a:defRPr>
                    </a:pPr>
                    <a:r>
                      <a:rPr lang="en-US" dirty="0">
                        <a:latin typeface="Arial" panose="020B0604020202020204" pitchFamily="34" charset="0"/>
                        <a:cs typeface="Arial" panose="020B0604020202020204" pitchFamily="34" charset="0"/>
                      </a:rPr>
                      <a:t>CONTROL</a:t>
                    </a:r>
                  </a:p>
                  <a:p>
                    <a:pPr>
                      <a:defRPr sz="1197" b="1" i="0" u="none" strike="noStrike" kern="1200" baseline="0">
                        <a:solidFill>
                          <a:schemeClr val="lt1"/>
                        </a:solidFill>
                        <a:latin typeface="Arial" panose="020B0604020202020204" pitchFamily="34" charset="0"/>
                        <a:ea typeface="+mn-ea"/>
                        <a:cs typeface="Arial" panose="020B0604020202020204" pitchFamily="34" charset="0"/>
                      </a:defRPr>
                    </a:pPr>
                    <a:r>
                      <a:rPr lang="en-US" dirty="0">
                        <a:latin typeface="Arial" panose="020B0604020202020204" pitchFamily="34" charset="0"/>
                        <a:cs typeface="Arial" panose="020B0604020202020204" pitchFamily="34" charset="0"/>
                      </a:rPr>
                      <a:t>S.G.I.</a:t>
                    </a: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4B0-46A5-BCB3-F6939CBB52AB}"/>
                </c:ext>
              </c:extLst>
            </c:dLbl>
            <c:dLbl>
              <c:idx val="2"/>
              <c:layout>
                <c:manualLayout>
                  <c:x val="0"/>
                  <c:y val="-0.15914812992125985"/>
                </c:manualLayout>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Arial" panose="020B0604020202020204" pitchFamily="34" charset="0"/>
                        <a:ea typeface="+mn-ea"/>
                        <a:cs typeface="Arial" panose="020B0604020202020204" pitchFamily="34" charset="0"/>
                      </a:defRPr>
                    </a:pPr>
                    <a:r>
                      <a:rPr lang="en-US">
                        <a:latin typeface="Arial" panose="020B0604020202020204" pitchFamily="34" charset="0"/>
                        <a:cs typeface="Arial" panose="020B0604020202020204" pitchFamily="34" charset="0"/>
                      </a:rPr>
                      <a:t>TRANSITO</a:t>
                    </a:r>
                    <a:endParaRPr lang="en-US" dirty="0">
                      <a:latin typeface="Arial" panose="020B0604020202020204" pitchFamily="34" charset="0"/>
                      <a:cs typeface="Arial" panose="020B0604020202020204" pitchFamily="34" charset="0"/>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74B0-46A5-BCB3-F6939CBB52AB}"/>
                </c:ext>
              </c:extLst>
            </c:dLbl>
            <c:dLbl>
              <c:idx val="3"/>
              <c:layout>
                <c:manualLayout>
                  <c:x val="0.17758169291338582"/>
                  <c:y val="-9.3227608267716533E-2"/>
                </c:manualLayout>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Arial" panose="020B0604020202020204" pitchFamily="34" charset="0"/>
                        <a:ea typeface="+mn-ea"/>
                        <a:cs typeface="Arial" panose="020B0604020202020204" pitchFamily="34" charset="0"/>
                      </a:defRPr>
                    </a:pPr>
                    <a:r>
                      <a:rPr lang="en-US">
                        <a:latin typeface="Arial" panose="020B0604020202020204" pitchFamily="34" charset="0"/>
                        <a:cs typeface="Arial" panose="020B0604020202020204" pitchFamily="34" charset="0"/>
                      </a:rPr>
                      <a:t>COMPRAS</a:t>
                    </a:r>
                    <a:endParaRPr lang="en-US" dirty="0">
                      <a:latin typeface="Arial" panose="020B0604020202020204" pitchFamily="34" charset="0"/>
                      <a:cs typeface="Arial" panose="020B0604020202020204" pitchFamily="34" charset="0"/>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74B0-46A5-BCB3-F6939CBB52AB}"/>
                </c:ext>
              </c:extLst>
            </c:dLbl>
            <c:dLbl>
              <c:idx val="4"/>
              <c:layout>
                <c:manualLayout>
                  <c:x val="0.15446161417322832"/>
                  <c:y val="0.17781668307086615"/>
                </c:manualLayout>
              </c:layout>
              <c:tx>
                <c:rich>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Arial" panose="020B0604020202020204" pitchFamily="34" charset="0"/>
                        <a:ea typeface="+mn-ea"/>
                        <a:cs typeface="Arial" panose="020B0604020202020204" pitchFamily="34" charset="0"/>
                      </a:defRPr>
                    </a:pPr>
                    <a:r>
                      <a:rPr lang="en-US">
                        <a:latin typeface="Arial" panose="020B0604020202020204" pitchFamily="34" charset="0"/>
                        <a:cs typeface="Arial" panose="020B0604020202020204" pitchFamily="34" charset="0"/>
                      </a:rPr>
                      <a:t>MANTENIMIENTO</a:t>
                    </a: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74B0-46A5-BCB3-F6939CBB52AB}"/>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s-CO"/>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Hoja1!$A$2:$A$6</c:f>
              <c:strCache>
                <c:ptCount val="5"/>
                <c:pt idx="0">
                  <c:v>MANTENIMIENTO</c:v>
                </c:pt>
                <c:pt idx="1">
                  <c:v>GESTION HUMANA</c:v>
                </c:pt>
                <c:pt idx="3">
                  <c:v>COMPRAS</c:v>
                </c:pt>
                <c:pt idx="4">
                  <c:v>CONTROL DEL SGI</c:v>
                </c:pt>
              </c:strCache>
            </c:strRef>
          </c:cat>
          <c:val>
            <c:numRef>
              <c:f>Hoja1!$B$2:$B$6</c:f>
              <c:numCache>
                <c:formatCode>General</c:formatCode>
                <c:ptCount val="5"/>
                <c:pt idx="0">
                  <c:v>4</c:v>
                </c:pt>
                <c:pt idx="1">
                  <c:v>4</c:v>
                </c:pt>
                <c:pt idx="3">
                  <c:v>4</c:v>
                </c:pt>
                <c:pt idx="4">
                  <c:v>4</c:v>
                </c:pt>
              </c:numCache>
            </c:numRef>
          </c:val>
          <c:extLst>
            <c:ext xmlns:c16="http://schemas.microsoft.com/office/drawing/2014/chart" uri="{C3380CC4-5D6E-409C-BE32-E72D297353CC}">
              <c16:uniqueId val="{0000000A-74B0-46A5-BCB3-F6939CBB52AB}"/>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s-CO"/>
    </a:p>
  </c:txPr>
  <c:externalData r:id="rId1">
    <c:autoUpdate val="0"/>
  </c:externalData>
  <c:userShapes r:id="rId2"/>
</c:chartSpac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6D8384-14A0-4107-A5B6-4511CA9CA643}" type="doc">
      <dgm:prSet loTypeId="urn:microsoft.com/office/officeart/2009/layout/CircleArrowProcess" loCatId="process" qsTypeId="urn:microsoft.com/office/officeart/2005/8/quickstyle/simple1" qsCatId="simple" csTypeId="urn:microsoft.com/office/officeart/2005/8/colors/colorful4" csCatId="colorful" phldr="1"/>
      <dgm:spPr/>
      <dgm:t>
        <a:bodyPr/>
        <a:lstStyle/>
        <a:p>
          <a:endParaRPr lang="es-CO"/>
        </a:p>
      </dgm:t>
    </dgm:pt>
    <dgm:pt modelId="{D9856D5D-3FDD-4F2D-AE32-5A29918BFC59}">
      <dgm:prSet phldrT="[Texto]"/>
      <dgm:spPr/>
      <dgm:t>
        <a:bodyPr/>
        <a:lstStyle/>
        <a:p>
          <a:r>
            <a:rPr lang="es-CO" dirty="0">
              <a:latin typeface="Arial" panose="020B0604020202020204" pitchFamily="34" charset="0"/>
              <a:cs typeface="Arial" panose="020B0604020202020204" pitchFamily="34" charset="0"/>
            </a:rPr>
            <a:t>Salud y Seguridad</a:t>
          </a:r>
        </a:p>
      </dgm:t>
    </dgm:pt>
    <dgm:pt modelId="{7475DA56-3CD1-496D-8BC9-5910664354C6}" type="parTrans" cxnId="{4DEAE93A-371A-4103-8A52-9495F93A7690}">
      <dgm:prSet/>
      <dgm:spPr/>
      <dgm:t>
        <a:bodyPr/>
        <a:lstStyle/>
        <a:p>
          <a:endParaRPr lang="es-CO">
            <a:latin typeface="Arial" panose="020B0604020202020204" pitchFamily="34" charset="0"/>
            <a:cs typeface="Arial" panose="020B0604020202020204" pitchFamily="34" charset="0"/>
          </a:endParaRPr>
        </a:p>
      </dgm:t>
    </dgm:pt>
    <dgm:pt modelId="{18EFA880-B303-4486-9FA3-964137AB32B7}" type="sibTrans" cxnId="{4DEAE93A-371A-4103-8A52-9495F93A7690}">
      <dgm:prSet/>
      <dgm:spPr/>
      <dgm:t>
        <a:bodyPr/>
        <a:lstStyle/>
        <a:p>
          <a:endParaRPr lang="es-CO">
            <a:latin typeface="Arial" panose="020B0604020202020204" pitchFamily="34" charset="0"/>
            <a:cs typeface="Arial" panose="020B0604020202020204" pitchFamily="34" charset="0"/>
          </a:endParaRPr>
        </a:p>
      </dgm:t>
    </dgm:pt>
    <dgm:pt modelId="{B283B7A7-9B48-435E-A30B-49B0DB97A089}">
      <dgm:prSet phldrT="[Texto]"/>
      <dgm:spPr/>
      <dgm:t>
        <a:bodyPr/>
        <a:lstStyle/>
        <a:p>
          <a:r>
            <a:rPr lang="es-CO" dirty="0">
              <a:latin typeface="Arial" panose="020B0604020202020204" pitchFamily="34" charset="0"/>
              <a:cs typeface="Arial" panose="020B0604020202020204" pitchFamily="34" charset="0"/>
            </a:rPr>
            <a:t>Calidad</a:t>
          </a:r>
        </a:p>
      </dgm:t>
    </dgm:pt>
    <dgm:pt modelId="{236E7003-61F2-40C2-AB0C-C4581C461E96}" type="parTrans" cxnId="{30A8EAE4-C425-4617-A6B4-1B178EAD891A}">
      <dgm:prSet/>
      <dgm:spPr/>
      <dgm:t>
        <a:bodyPr/>
        <a:lstStyle/>
        <a:p>
          <a:endParaRPr lang="es-CO">
            <a:latin typeface="Arial" panose="020B0604020202020204" pitchFamily="34" charset="0"/>
            <a:cs typeface="Arial" panose="020B0604020202020204" pitchFamily="34" charset="0"/>
          </a:endParaRPr>
        </a:p>
      </dgm:t>
    </dgm:pt>
    <dgm:pt modelId="{0783C58B-DCAA-4BCF-939C-6C5637FA44C5}" type="sibTrans" cxnId="{30A8EAE4-C425-4617-A6B4-1B178EAD891A}">
      <dgm:prSet/>
      <dgm:spPr/>
      <dgm:t>
        <a:bodyPr/>
        <a:lstStyle/>
        <a:p>
          <a:endParaRPr lang="es-CO">
            <a:latin typeface="Arial" panose="020B0604020202020204" pitchFamily="34" charset="0"/>
            <a:cs typeface="Arial" panose="020B0604020202020204" pitchFamily="34" charset="0"/>
          </a:endParaRPr>
        </a:p>
      </dgm:t>
    </dgm:pt>
    <dgm:pt modelId="{FBB30C3E-077D-4A87-9D49-32AFF4565F69}">
      <dgm:prSet phldrT="[Texto]"/>
      <dgm:spPr/>
      <dgm:t>
        <a:bodyPr/>
        <a:lstStyle/>
        <a:p>
          <a:r>
            <a:rPr lang="es-CO" dirty="0">
              <a:latin typeface="Arial" panose="020B0604020202020204" pitchFamily="34" charset="0"/>
              <a:cs typeface="Arial" panose="020B0604020202020204" pitchFamily="34" charset="0"/>
            </a:rPr>
            <a:t>Medio Ambiente</a:t>
          </a:r>
        </a:p>
      </dgm:t>
    </dgm:pt>
    <dgm:pt modelId="{E1C4C3D0-FAE5-409C-B561-E83A328D0C56}" type="parTrans" cxnId="{C94E8A7C-D809-4507-B2A5-E92C54175500}">
      <dgm:prSet/>
      <dgm:spPr/>
      <dgm:t>
        <a:bodyPr/>
        <a:lstStyle/>
        <a:p>
          <a:endParaRPr lang="es-CO">
            <a:latin typeface="Arial" panose="020B0604020202020204" pitchFamily="34" charset="0"/>
            <a:cs typeface="Arial" panose="020B0604020202020204" pitchFamily="34" charset="0"/>
          </a:endParaRPr>
        </a:p>
      </dgm:t>
    </dgm:pt>
    <dgm:pt modelId="{36623E8A-2991-4F4D-8218-942AEE2F691D}" type="sibTrans" cxnId="{C94E8A7C-D809-4507-B2A5-E92C54175500}">
      <dgm:prSet/>
      <dgm:spPr/>
      <dgm:t>
        <a:bodyPr/>
        <a:lstStyle/>
        <a:p>
          <a:endParaRPr lang="es-CO">
            <a:latin typeface="Arial" panose="020B0604020202020204" pitchFamily="34" charset="0"/>
            <a:cs typeface="Arial" panose="020B0604020202020204" pitchFamily="34" charset="0"/>
          </a:endParaRPr>
        </a:p>
      </dgm:t>
    </dgm:pt>
    <dgm:pt modelId="{AED09353-E82E-4D1D-B45B-44BD742CDF41}" type="pres">
      <dgm:prSet presAssocID="{906D8384-14A0-4107-A5B6-4511CA9CA643}" presName="Name0" presStyleCnt="0">
        <dgm:presLayoutVars>
          <dgm:chMax val="7"/>
          <dgm:chPref val="7"/>
          <dgm:dir/>
          <dgm:animLvl val="lvl"/>
        </dgm:presLayoutVars>
      </dgm:prSet>
      <dgm:spPr/>
      <dgm:t>
        <a:bodyPr/>
        <a:lstStyle/>
        <a:p>
          <a:endParaRPr lang="es-ES"/>
        </a:p>
      </dgm:t>
    </dgm:pt>
    <dgm:pt modelId="{24C46F8D-77F6-4A53-A6D6-70636BF3DC64}" type="pres">
      <dgm:prSet presAssocID="{D9856D5D-3FDD-4F2D-AE32-5A29918BFC59}" presName="Accent1" presStyleCnt="0"/>
      <dgm:spPr/>
    </dgm:pt>
    <dgm:pt modelId="{DB5B0AA4-F052-41AD-BC58-D35610316101}" type="pres">
      <dgm:prSet presAssocID="{D9856D5D-3FDD-4F2D-AE32-5A29918BFC59}" presName="Accent" presStyleLbl="node1" presStyleIdx="0" presStyleCnt="3"/>
      <dgm:spPr>
        <a:solidFill>
          <a:schemeClr val="accent5"/>
        </a:solidFill>
        <a:ln>
          <a:solidFill>
            <a:schemeClr val="accent5">
              <a:lumMod val="50000"/>
            </a:schemeClr>
          </a:solidFill>
        </a:ln>
      </dgm:spPr>
    </dgm:pt>
    <dgm:pt modelId="{C85AD857-9D38-40DE-BE54-DD458EA81678}" type="pres">
      <dgm:prSet presAssocID="{D9856D5D-3FDD-4F2D-AE32-5A29918BFC59}" presName="Parent1" presStyleLbl="revTx" presStyleIdx="0" presStyleCnt="3">
        <dgm:presLayoutVars>
          <dgm:chMax val="1"/>
          <dgm:chPref val="1"/>
          <dgm:bulletEnabled val="1"/>
        </dgm:presLayoutVars>
      </dgm:prSet>
      <dgm:spPr/>
      <dgm:t>
        <a:bodyPr/>
        <a:lstStyle/>
        <a:p>
          <a:endParaRPr lang="es-ES"/>
        </a:p>
      </dgm:t>
    </dgm:pt>
    <dgm:pt modelId="{B71AF19F-86BC-4C88-B5F4-41BB9C181A6F}" type="pres">
      <dgm:prSet presAssocID="{B283B7A7-9B48-435E-A30B-49B0DB97A089}" presName="Accent2" presStyleCnt="0"/>
      <dgm:spPr/>
    </dgm:pt>
    <dgm:pt modelId="{A3963EB4-194F-49F0-BAC3-A1261E556225}" type="pres">
      <dgm:prSet presAssocID="{B283B7A7-9B48-435E-A30B-49B0DB97A089}" presName="Accent" presStyleLbl="node1" presStyleIdx="1" presStyleCnt="3"/>
      <dgm:spPr>
        <a:solidFill>
          <a:schemeClr val="accent2"/>
        </a:solidFill>
        <a:ln>
          <a:solidFill>
            <a:schemeClr val="accent2">
              <a:lumMod val="50000"/>
            </a:schemeClr>
          </a:solidFill>
        </a:ln>
      </dgm:spPr>
    </dgm:pt>
    <dgm:pt modelId="{2E5CA399-56D1-4C63-9C63-CE39F7ED70BA}" type="pres">
      <dgm:prSet presAssocID="{B283B7A7-9B48-435E-A30B-49B0DB97A089}" presName="Parent2" presStyleLbl="revTx" presStyleIdx="1" presStyleCnt="3">
        <dgm:presLayoutVars>
          <dgm:chMax val="1"/>
          <dgm:chPref val="1"/>
          <dgm:bulletEnabled val="1"/>
        </dgm:presLayoutVars>
      </dgm:prSet>
      <dgm:spPr/>
      <dgm:t>
        <a:bodyPr/>
        <a:lstStyle/>
        <a:p>
          <a:endParaRPr lang="es-ES"/>
        </a:p>
      </dgm:t>
    </dgm:pt>
    <dgm:pt modelId="{369806C6-CD16-4F27-B256-03623B369A0C}" type="pres">
      <dgm:prSet presAssocID="{FBB30C3E-077D-4A87-9D49-32AFF4565F69}" presName="Accent3" presStyleCnt="0"/>
      <dgm:spPr/>
    </dgm:pt>
    <dgm:pt modelId="{EE4F62FD-B65C-4201-8E18-C47277BD399D}" type="pres">
      <dgm:prSet presAssocID="{FBB30C3E-077D-4A87-9D49-32AFF4565F69}" presName="Accent" presStyleLbl="node1" presStyleIdx="2" presStyleCnt="3"/>
      <dgm:spPr>
        <a:solidFill>
          <a:schemeClr val="accent6"/>
        </a:solidFill>
        <a:ln>
          <a:solidFill>
            <a:schemeClr val="accent6">
              <a:lumMod val="50000"/>
            </a:schemeClr>
          </a:solidFill>
        </a:ln>
      </dgm:spPr>
    </dgm:pt>
    <dgm:pt modelId="{DCCA9F3F-432F-447D-B65B-4FDD91403D22}" type="pres">
      <dgm:prSet presAssocID="{FBB30C3E-077D-4A87-9D49-32AFF4565F69}" presName="Parent3" presStyleLbl="revTx" presStyleIdx="2" presStyleCnt="3">
        <dgm:presLayoutVars>
          <dgm:chMax val="1"/>
          <dgm:chPref val="1"/>
          <dgm:bulletEnabled val="1"/>
        </dgm:presLayoutVars>
      </dgm:prSet>
      <dgm:spPr/>
      <dgm:t>
        <a:bodyPr/>
        <a:lstStyle/>
        <a:p>
          <a:endParaRPr lang="es-ES"/>
        </a:p>
      </dgm:t>
    </dgm:pt>
  </dgm:ptLst>
  <dgm:cxnLst>
    <dgm:cxn modelId="{C604EE61-6081-4231-84E3-6AE7540B2247}" type="presOf" srcId="{FBB30C3E-077D-4A87-9D49-32AFF4565F69}" destId="{DCCA9F3F-432F-447D-B65B-4FDD91403D22}" srcOrd="0" destOrd="0" presId="urn:microsoft.com/office/officeart/2009/layout/CircleArrowProcess"/>
    <dgm:cxn modelId="{C94E8A7C-D809-4507-B2A5-E92C54175500}" srcId="{906D8384-14A0-4107-A5B6-4511CA9CA643}" destId="{FBB30C3E-077D-4A87-9D49-32AFF4565F69}" srcOrd="2" destOrd="0" parTransId="{E1C4C3D0-FAE5-409C-B561-E83A328D0C56}" sibTransId="{36623E8A-2991-4F4D-8218-942AEE2F691D}"/>
    <dgm:cxn modelId="{30A8EAE4-C425-4617-A6B4-1B178EAD891A}" srcId="{906D8384-14A0-4107-A5B6-4511CA9CA643}" destId="{B283B7A7-9B48-435E-A30B-49B0DB97A089}" srcOrd="1" destOrd="0" parTransId="{236E7003-61F2-40C2-AB0C-C4581C461E96}" sibTransId="{0783C58B-DCAA-4BCF-939C-6C5637FA44C5}"/>
    <dgm:cxn modelId="{4DEAE93A-371A-4103-8A52-9495F93A7690}" srcId="{906D8384-14A0-4107-A5B6-4511CA9CA643}" destId="{D9856D5D-3FDD-4F2D-AE32-5A29918BFC59}" srcOrd="0" destOrd="0" parTransId="{7475DA56-3CD1-496D-8BC9-5910664354C6}" sibTransId="{18EFA880-B303-4486-9FA3-964137AB32B7}"/>
    <dgm:cxn modelId="{CF607855-14D5-4FF8-8DDF-DB127CF39311}" type="presOf" srcId="{906D8384-14A0-4107-A5B6-4511CA9CA643}" destId="{AED09353-E82E-4D1D-B45B-44BD742CDF41}" srcOrd="0" destOrd="0" presId="urn:microsoft.com/office/officeart/2009/layout/CircleArrowProcess"/>
    <dgm:cxn modelId="{130C8238-729D-4A22-BAAC-673658B3A619}" type="presOf" srcId="{B283B7A7-9B48-435E-A30B-49B0DB97A089}" destId="{2E5CA399-56D1-4C63-9C63-CE39F7ED70BA}" srcOrd="0" destOrd="0" presId="urn:microsoft.com/office/officeart/2009/layout/CircleArrowProcess"/>
    <dgm:cxn modelId="{16896886-22E5-4CE9-B284-6B92D7518137}" type="presOf" srcId="{D9856D5D-3FDD-4F2D-AE32-5A29918BFC59}" destId="{C85AD857-9D38-40DE-BE54-DD458EA81678}" srcOrd="0" destOrd="0" presId="urn:microsoft.com/office/officeart/2009/layout/CircleArrowProcess"/>
    <dgm:cxn modelId="{372235CF-BAB2-40C4-859B-A365DB3FECC5}" type="presParOf" srcId="{AED09353-E82E-4D1D-B45B-44BD742CDF41}" destId="{24C46F8D-77F6-4A53-A6D6-70636BF3DC64}" srcOrd="0" destOrd="0" presId="urn:microsoft.com/office/officeart/2009/layout/CircleArrowProcess"/>
    <dgm:cxn modelId="{31BEE2E3-C5F6-4862-8C73-F605A44BF1A2}" type="presParOf" srcId="{24C46F8D-77F6-4A53-A6D6-70636BF3DC64}" destId="{DB5B0AA4-F052-41AD-BC58-D35610316101}" srcOrd="0" destOrd="0" presId="urn:microsoft.com/office/officeart/2009/layout/CircleArrowProcess"/>
    <dgm:cxn modelId="{D8C22524-781E-4A31-B25E-34DC6464B4FA}" type="presParOf" srcId="{AED09353-E82E-4D1D-B45B-44BD742CDF41}" destId="{C85AD857-9D38-40DE-BE54-DD458EA81678}" srcOrd="1" destOrd="0" presId="urn:microsoft.com/office/officeart/2009/layout/CircleArrowProcess"/>
    <dgm:cxn modelId="{065C1A98-5074-458C-94BF-4E8CFCF73227}" type="presParOf" srcId="{AED09353-E82E-4D1D-B45B-44BD742CDF41}" destId="{B71AF19F-86BC-4C88-B5F4-41BB9C181A6F}" srcOrd="2" destOrd="0" presId="urn:microsoft.com/office/officeart/2009/layout/CircleArrowProcess"/>
    <dgm:cxn modelId="{FEDD2E1B-DF02-4E4B-88E5-0E392FFBC19A}" type="presParOf" srcId="{B71AF19F-86BC-4C88-B5F4-41BB9C181A6F}" destId="{A3963EB4-194F-49F0-BAC3-A1261E556225}" srcOrd="0" destOrd="0" presId="urn:microsoft.com/office/officeart/2009/layout/CircleArrowProcess"/>
    <dgm:cxn modelId="{AF054B8C-28BB-4E0D-9B24-370ABECF126D}" type="presParOf" srcId="{AED09353-E82E-4D1D-B45B-44BD742CDF41}" destId="{2E5CA399-56D1-4C63-9C63-CE39F7ED70BA}" srcOrd="3" destOrd="0" presId="urn:microsoft.com/office/officeart/2009/layout/CircleArrowProcess"/>
    <dgm:cxn modelId="{82DB952F-101B-49DB-A942-EBD5A16F54AC}" type="presParOf" srcId="{AED09353-E82E-4D1D-B45B-44BD742CDF41}" destId="{369806C6-CD16-4F27-B256-03623B369A0C}" srcOrd="4" destOrd="0" presId="urn:microsoft.com/office/officeart/2009/layout/CircleArrowProcess"/>
    <dgm:cxn modelId="{B749B3CC-444D-4D38-B7CD-84667A6059B0}" type="presParOf" srcId="{369806C6-CD16-4F27-B256-03623B369A0C}" destId="{EE4F62FD-B65C-4201-8E18-C47277BD399D}" srcOrd="0" destOrd="0" presId="urn:microsoft.com/office/officeart/2009/layout/CircleArrowProcess"/>
    <dgm:cxn modelId="{716AAAB3-1156-406A-A907-2027FF401C2A}" type="presParOf" srcId="{AED09353-E82E-4D1D-B45B-44BD742CDF41}" destId="{DCCA9F3F-432F-447D-B65B-4FDD91403D22}"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B0AA4-F052-41AD-BC58-D35610316101}">
      <dsp:nvSpPr>
        <dsp:cNvPr id="0" name=""/>
        <dsp:cNvSpPr/>
      </dsp:nvSpPr>
      <dsp:spPr>
        <a:xfrm>
          <a:off x="2319675" y="0"/>
          <a:ext cx="2016810" cy="2017117"/>
        </a:xfrm>
        <a:prstGeom prst="circularArrow">
          <a:avLst>
            <a:gd name="adj1" fmla="val 10980"/>
            <a:gd name="adj2" fmla="val 1142322"/>
            <a:gd name="adj3" fmla="val 4500000"/>
            <a:gd name="adj4" fmla="val 10800000"/>
            <a:gd name="adj5" fmla="val 12500"/>
          </a:avLst>
        </a:prstGeom>
        <a:solidFill>
          <a:schemeClr val="accent5"/>
        </a:solidFill>
        <a:ln w="12700" cap="flat" cmpd="sng" algn="ctr">
          <a:solidFill>
            <a:schemeClr val="accent5">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5AD857-9D38-40DE-BE54-DD458EA81678}">
      <dsp:nvSpPr>
        <dsp:cNvPr id="0" name=""/>
        <dsp:cNvSpPr/>
      </dsp:nvSpPr>
      <dsp:spPr>
        <a:xfrm>
          <a:off x="2765457" y="728240"/>
          <a:ext cx="1120702" cy="560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CO" sz="1800" kern="1200" dirty="0">
              <a:latin typeface="Arial" panose="020B0604020202020204" pitchFamily="34" charset="0"/>
              <a:cs typeface="Arial" panose="020B0604020202020204" pitchFamily="34" charset="0"/>
            </a:rPr>
            <a:t>Salud y Seguridad</a:t>
          </a:r>
        </a:p>
      </dsp:txBody>
      <dsp:txXfrm>
        <a:off x="2765457" y="728240"/>
        <a:ext cx="1120702" cy="560217"/>
      </dsp:txXfrm>
    </dsp:sp>
    <dsp:sp modelId="{A3963EB4-194F-49F0-BAC3-A1261E556225}">
      <dsp:nvSpPr>
        <dsp:cNvPr id="0" name=""/>
        <dsp:cNvSpPr/>
      </dsp:nvSpPr>
      <dsp:spPr>
        <a:xfrm>
          <a:off x="1759513" y="1158983"/>
          <a:ext cx="2016810" cy="2017117"/>
        </a:xfrm>
        <a:prstGeom prst="leftCircularArrow">
          <a:avLst>
            <a:gd name="adj1" fmla="val 10980"/>
            <a:gd name="adj2" fmla="val 1142322"/>
            <a:gd name="adj3" fmla="val 6300000"/>
            <a:gd name="adj4" fmla="val 18900000"/>
            <a:gd name="adj5" fmla="val 12500"/>
          </a:avLst>
        </a:prstGeom>
        <a:solidFill>
          <a:schemeClr val="accent2"/>
        </a:solidFill>
        <a:ln w="12700" cap="flat" cmpd="sng" algn="ctr">
          <a:solidFill>
            <a:schemeClr val="accent2">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5CA399-56D1-4C63-9C63-CE39F7ED70BA}">
      <dsp:nvSpPr>
        <dsp:cNvPr id="0" name=""/>
        <dsp:cNvSpPr/>
      </dsp:nvSpPr>
      <dsp:spPr>
        <a:xfrm>
          <a:off x="2207567" y="1893928"/>
          <a:ext cx="1120702" cy="560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CO" sz="1800" kern="1200" dirty="0">
              <a:latin typeface="Arial" panose="020B0604020202020204" pitchFamily="34" charset="0"/>
              <a:cs typeface="Arial" panose="020B0604020202020204" pitchFamily="34" charset="0"/>
            </a:rPr>
            <a:t>Calidad</a:t>
          </a:r>
        </a:p>
      </dsp:txBody>
      <dsp:txXfrm>
        <a:off x="2207567" y="1893928"/>
        <a:ext cx="1120702" cy="560217"/>
      </dsp:txXfrm>
    </dsp:sp>
    <dsp:sp modelId="{EE4F62FD-B65C-4201-8E18-C47277BD399D}">
      <dsp:nvSpPr>
        <dsp:cNvPr id="0" name=""/>
        <dsp:cNvSpPr/>
      </dsp:nvSpPr>
      <dsp:spPr>
        <a:xfrm>
          <a:off x="2463219" y="2456659"/>
          <a:ext cx="1732752" cy="1733447"/>
        </a:xfrm>
        <a:prstGeom prst="blockArc">
          <a:avLst>
            <a:gd name="adj1" fmla="val 13500000"/>
            <a:gd name="adj2" fmla="val 10800000"/>
            <a:gd name="adj3" fmla="val 12740"/>
          </a:avLst>
        </a:prstGeom>
        <a:solidFill>
          <a:schemeClr val="accent6"/>
        </a:solidFill>
        <a:ln w="12700" cap="flat" cmpd="sng" algn="ctr">
          <a:solidFill>
            <a:schemeClr val="accent6">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CA9F3F-432F-447D-B65B-4FDD91403D22}">
      <dsp:nvSpPr>
        <dsp:cNvPr id="0" name=""/>
        <dsp:cNvSpPr/>
      </dsp:nvSpPr>
      <dsp:spPr>
        <a:xfrm>
          <a:off x="2768108" y="3061292"/>
          <a:ext cx="1120702" cy="560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CO" sz="1800" kern="1200" dirty="0">
              <a:latin typeface="Arial" panose="020B0604020202020204" pitchFamily="34" charset="0"/>
              <a:cs typeface="Arial" panose="020B0604020202020204" pitchFamily="34" charset="0"/>
            </a:rPr>
            <a:t>Medio Ambiente</a:t>
          </a:r>
        </a:p>
      </dsp:txBody>
      <dsp:txXfrm>
        <a:off x="2768108" y="3061292"/>
        <a:ext cx="1120702" cy="560217"/>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0.09463</cdr:x>
      <cdr:y>0.91744</cdr:y>
    </cdr:from>
    <cdr:to>
      <cdr:x>0.22008</cdr:x>
      <cdr:y>0.96698</cdr:y>
    </cdr:to>
    <cdr:sp macro="" textlink="">
      <cdr:nvSpPr>
        <cdr:cNvPr id="2" name="1 CuadroTexto"/>
        <cdr:cNvSpPr txBox="1"/>
      </cdr:nvSpPr>
      <cdr:spPr>
        <a:xfrm xmlns:a="http://schemas.openxmlformats.org/drawingml/2006/main">
          <a:off x="797290" y="5130132"/>
          <a:ext cx="1056903" cy="276999"/>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s-CO"/>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xmlns:a="http://schemas.openxmlformats.org/drawingml/2006/main">
          <a:r>
            <a:rPr lang="es-CO" sz="1200" b="1" dirty="0"/>
            <a:t>Versión: 0</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89A9B-8D11-4CC5-9804-70408468EE52}" type="datetimeFigureOut">
              <a:rPr lang="es-CO" smtClean="0"/>
              <a:t>11/02/2026</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9E97E2-F664-42D7-A190-FD11C8AA4065}" type="slidenum">
              <a:rPr lang="es-CO" smtClean="0"/>
              <a:t>‹Nº›</a:t>
            </a:fld>
            <a:endParaRPr lang="es-CO"/>
          </a:p>
        </p:txBody>
      </p:sp>
    </p:spTree>
    <p:extLst>
      <p:ext uri="{BB962C8B-B14F-4D97-AF65-F5344CB8AC3E}">
        <p14:creationId xmlns:p14="http://schemas.microsoft.com/office/powerpoint/2010/main" val="2729969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099" name="2 Marcador de notas"/>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s-ES" dirty="0"/>
              <a:t>Partes Interesadas:</a:t>
            </a:r>
            <a:r>
              <a:rPr lang="es-ES" baseline="0" dirty="0"/>
              <a:t> el Estados, los clientes, los aliados de negocio, los clientes internos, la comunidad, los accionistas</a:t>
            </a:r>
          </a:p>
          <a:p>
            <a:pPr>
              <a:spcBef>
                <a:spcPct val="0"/>
              </a:spcBef>
            </a:pPr>
            <a:r>
              <a:rPr lang="es-ES" baseline="0" dirty="0"/>
              <a:t>El Proceso de operaciones contempla:</a:t>
            </a:r>
          </a:p>
          <a:p>
            <a:pPr>
              <a:spcBef>
                <a:spcPct val="0"/>
              </a:spcBef>
            </a:pPr>
            <a:r>
              <a:rPr lang="es-ES" baseline="0" dirty="0"/>
              <a:t>Transito; por la parte documental requerida por el ministerio y el transito para la operación de los vehículos y de los conductores.</a:t>
            </a:r>
          </a:p>
          <a:p>
            <a:pPr>
              <a:spcBef>
                <a:spcPct val="0"/>
              </a:spcBef>
            </a:pPr>
            <a:r>
              <a:rPr lang="es-ES" baseline="0" dirty="0"/>
              <a:t>Programación; que es el cronograma de los vehículos para atender los compromisos de especiales y de ruta</a:t>
            </a:r>
          </a:p>
          <a:p>
            <a:pPr>
              <a:spcBef>
                <a:spcPct val="0"/>
              </a:spcBef>
            </a:pPr>
            <a:r>
              <a:rPr lang="es-ES" baseline="0" dirty="0"/>
              <a:t>Despachos; es la confirmación de la salida de los carros de especiales y del despacho de los turnos en la ruta en cada taquilla.</a:t>
            </a:r>
          </a:p>
          <a:p>
            <a:pPr>
              <a:spcBef>
                <a:spcPct val="0"/>
              </a:spcBef>
            </a:pPr>
            <a:r>
              <a:rPr lang="es-ES" baseline="0" dirty="0"/>
              <a:t>Monitoreo; es el área que controla los kilómetros, los excesos de velocidad, las paradas y los bloqueos de sensores durante la prestación de los servicios de ruta y especiales.</a:t>
            </a:r>
          </a:p>
          <a:p>
            <a:pPr>
              <a:spcBef>
                <a:spcPct val="0"/>
              </a:spcBef>
            </a:pPr>
            <a:endParaRPr lang="es-ES" dirty="0"/>
          </a:p>
        </p:txBody>
      </p:sp>
      <p:sp>
        <p:nvSpPr>
          <p:cNvPr id="4100" name="3 Marcador de número de diapositiva"/>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40B683A-DE57-4F03-A39F-5686BF1233D4}" type="slidenum">
              <a:rPr lang="es-CO"/>
              <a:pPr fontAlgn="base">
                <a:spcBef>
                  <a:spcPct val="0"/>
                </a:spcBef>
                <a:spcAft>
                  <a:spcPct val="0"/>
                </a:spcAft>
              </a:pPr>
              <a:t>16</a:t>
            </a:fld>
            <a:endParaRPr lang="es-CO"/>
          </a:p>
        </p:txBody>
      </p:sp>
    </p:spTree>
    <p:extLst>
      <p:ext uri="{BB962C8B-B14F-4D97-AF65-F5344CB8AC3E}">
        <p14:creationId xmlns:p14="http://schemas.microsoft.com/office/powerpoint/2010/main" val="2895721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Revisar con Francisco si lo quieres dejar especifico </a:t>
            </a:r>
            <a:r>
              <a:rPr lang="es-CO"/>
              <a:t>o </a:t>
            </a:r>
            <a:r>
              <a:rPr lang="es-CO" baseline="0"/>
              <a:t> general</a:t>
            </a:r>
            <a:endParaRPr lang="es-CO"/>
          </a:p>
        </p:txBody>
      </p:sp>
      <p:sp>
        <p:nvSpPr>
          <p:cNvPr id="4" name="Marcador de número de diapositiva 3"/>
          <p:cNvSpPr>
            <a:spLocks noGrp="1"/>
          </p:cNvSpPr>
          <p:nvPr>
            <p:ph type="sldNum" sz="quarter" idx="10"/>
          </p:nvPr>
        </p:nvSpPr>
        <p:spPr/>
        <p:txBody>
          <a:bodyPr/>
          <a:lstStyle/>
          <a:p>
            <a:fld id="{B69E97E2-F664-42D7-A190-FD11C8AA4065}" type="slidenum">
              <a:rPr lang="es-CO" smtClean="0"/>
              <a:t>23</a:t>
            </a:fld>
            <a:endParaRPr lang="es-CO"/>
          </a:p>
        </p:txBody>
      </p:sp>
    </p:spTree>
    <p:extLst>
      <p:ext uri="{BB962C8B-B14F-4D97-AF65-F5344CB8AC3E}">
        <p14:creationId xmlns:p14="http://schemas.microsoft.com/office/powerpoint/2010/main" val="3759719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Revisar con Francisco si lo quieres dejar especifico </a:t>
            </a:r>
            <a:r>
              <a:rPr lang="es-CO"/>
              <a:t>o </a:t>
            </a:r>
            <a:r>
              <a:rPr lang="es-CO" baseline="0"/>
              <a:t> general</a:t>
            </a:r>
            <a:endParaRPr lang="es-CO"/>
          </a:p>
        </p:txBody>
      </p:sp>
      <p:sp>
        <p:nvSpPr>
          <p:cNvPr id="4" name="Marcador de número de diapositiva 3"/>
          <p:cNvSpPr>
            <a:spLocks noGrp="1"/>
          </p:cNvSpPr>
          <p:nvPr>
            <p:ph type="sldNum" sz="quarter" idx="10"/>
          </p:nvPr>
        </p:nvSpPr>
        <p:spPr/>
        <p:txBody>
          <a:bodyPr/>
          <a:lstStyle/>
          <a:p>
            <a:fld id="{B69E97E2-F664-42D7-A190-FD11C8AA4065}" type="slidenum">
              <a:rPr lang="es-CO" smtClean="0"/>
              <a:t>24</a:t>
            </a:fld>
            <a:endParaRPr lang="es-CO"/>
          </a:p>
        </p:txBody>
      </p:sp>
    </p:spTree>
    <p:extLst>
      <p:ext uri="{BB962C8B-B14F-4D97-AF65-F5344CB8AC3E}">
        <p14:creationId xmlns:p14="http://schemas.microsoft.com/office/powerpoint/2010/main" val="3759719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Revisar con Francisco si lo quieres dejar especifico </a:t>
            </a:r>
            <a:r>
              <a:rPr lang="es-CO"/>
              <a:t>o </a:t>
            </a:r>
            <a:r>
              <a:rPr lang="es-CO" baseline="0"/>
              <a:t> general</a:t>
            </a:r>
            <a:endParaRPr lang="es-CO"/>
          </a:p>
        </p:txBody>
      </p:sp>
      <p:sp>
        <p:nvSpPr>
          <p:cNvPr id="4" name="Marcador de número de diapositiva 3"/>
          <p:cNvSpPr>
            <a:spLocks noGrp="1"/>
          </p:cNvSpPr>
          <p:nvPr>
            <p:ph type="sldNum" sz="quarter" idx="10"/>
          </p:nvPr>
        </p:nvSpPr>
        <p:spPr/>
        <p:txBody>
          <a:bodyPr/>
          <a:lstStyle/>
          <a:p>
            <a:fld id="{B69E97E2-F664-42D7-A190-FD11C8AA4065}" type="slidenum">
              <a:rPr lang="es-CO" smtClean="0"/>
              <a:t>25</a:t>
            </a:fld>
            <a:endParaRPr lang="es-CO"/>
          </a:p>
        </p:txBody>
      </p:sp>
    </p:spTree>
    <p:extLst>
      <p:ext uri="{BB962C8B-B14F-4D97-AF65-F5344CB8AC3E}">
        <p14:creationId xmlns:p14="http://schemas.microsoft.com/office/powerpoint/2010/main" val="3759719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9D6CB08-3597-4D37-8B3E-1D042E70B461}" type="datetimeFigureOut">
              <a:rPr lang="es-CO" smtClean="0"/>
              <a:t>11/02/2026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203830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D6CB08-3597-4D37-8B3E-1D042E70B461}" type="datetimeFigureOut">
              <a:rPr lang="es-CO" smtClean="0"/>
              <a:t>11/02/2026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105757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69D6CB08-3597-4D37-8B3E-1D042E70B461}" type="datetimeFigureOut">
              <a:rPr lang="es-CO" smtClean="0"/>
              <a:t>11/02/2026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2813177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9D6CB08-3597-4D37-8B3E-1D042E70B461}" type="datetimeFigureOut">
              <a:rPr lang="es-CO" smtClean="0"/>
              <a:t>11/02/2026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165826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9D6CB08-3597-4D37-8B3E-1D042E70B461}" type="datetimeFigureOut">
              <a:rPr lang="es-CO" smtClean="0"/>
              <a:t>11/02/2026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1016386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9D6CB08-3597-4D37-8B3E-1D042E70B461}" type="datetimeFigureOut">
              <a:rPr lang="es-CO" smtClean="0"/>
              <a:t>11/02/2026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3563542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D6CB08-3597-4D37-8B3E-1D042E70B461}" type="datetimeFigureOut">
              <a:rPr lang="es-CO" smtClean="0"/>
              <a:t>11/02/2026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1527735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9D6CB08-3597-4D37-8B3E-1D042E70B461}" type="datetimeFigureOut">
              <a:rPr lang="es-CO" smtClean="0"/>
              <a:t>11/02/2026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33518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9D6CB08-3597-4D37-8B3E-1D042E70B461}" type="datetimeFigureOut">
              <a:rPr lang="es-CO" smtClean="0"/>
              <a:t>11/02/2026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968504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D6CB08-3597-4D37-8B3E-1D042E70B461}" type="datetimeFigureOut">
              <a:rPr lang="es-CO" smtClean="0"/>
              <a:t>11/02/2026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152004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D6CB08-3597-4D37-8B3E-1D042E70B461}" type="datetimeFigureOut">
              <a:rPr lang="es-CO" smtClean="0"/>
              <a:t>11/02/2026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C8A5E54-D7A3-485C-96B1-753CC4423ACE}" type="slidenum">
              <a:rPr lang="es-CO" smtClean="0"/>
              <a:t>‹Nº›</a:t>
            </a:fld>
            <a:endParaRPr lang="es-CO"/>
          </a:p>
        </p:txBody>
      </p:sp>
    </p:spTree>
    <p:extLst>
      <p:ext uri="{BB962C8B-B14F-4D97-AF65-F5344CB8AC3E}">
        <p14:creationId xmlns:p14="http://schemas.microsoft.com/office/powerpoint/2010/main" val="1078445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D6CB08-3597-4D37-8B3E-1D042E70B461}" type="datetimeFigureOut">
              <a:rPr lang="es-CO" smtClean="0"/>
              <a:t>11/02/2026</a:t>
            </a:fld>
            <a:endParaRPr lang="es-CO"/>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8A5E54-D7A3-485C-96B1-753CC4423ACE}" type="slidenum">
              <a:rPr lang="es-CO" smtClean="0"/>
              <a:t>‹Nº›</a:t>
            </a:fld>
            <a:endParaRPr lang="es-CO"/>
          </a:p>
        </p:txBody>
      </p:sp>
    </p:spTree>
    <p:extLst>
      <p:ext uri="{BB962C8B-B14F-4D97-AF65-F5344CB8AC3E}">
        <p14:creationId xmlns:p14="http://schemas.microsoft.com/office/powerpoint/2010/main" val="40551467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DG-02%20Organigrama.xlsx"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2.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8923" y="3242277"/>
            <a:ext cx="2857500" cy="2486025"/>
          </a:xfrm>
          <a:prstGeom prst="rect">
            <a:avLst/>
          </a:prstGeom>
        </p:spPr>
      </p:pic>
      <p:sp>
        <p:nvSpPr>
          <p:cNvPr id="6" name="Título 5"/>
          <p:cNvSpPr>
            <a:spLocks noGrp="1"/>
          </p:cNvSpPr>
          <p:nvPr>
            <p:ph type="ctrTitle"/>
          </p:nvPr>
        </p:nvSpPr>
        <p:spPr>
          <a:xfrm>
            <a:off x="-298154" y="2203546"/>
            <a:ext cx="7055658" cy="3155690"/>
          </a:xfrm>
        </p:spPr>
        <p:txBody>
          <a:bodyPr>
            <a:noAutofit/>
          </a:bodyPr>
          <a:lstStyle/>
          <a:p>
            <a:r>
              <a:rPr lang="es-CO" sz="5800" b="1" dirty="0">
                <a:latin typeface="Arial" panose="020B0604020202020204" pitchFamily="34" charset="0"/>
                <a:cs typeface="Arial" panose="020B0604020202020204" pitchFamily="34" charset="0"/>
              </a:rPr>
              <a:t>MANUAL DEL SISTEMA DE GESTIÓN INTEGRADO</a:t>
            </a:r>
          </a:p>
        </p:txBody>
      </p:sp>
      <p:sp>
        <p:nvSpPr>
          <p:cNvPr id="8" name="Rectángulo redondeado 7"/>
          <p:cNvSpPr/>
          <p:nvPr/>
        </p:nvSpPr>
        <p:spPr>
          <a:xfrm>
            <a:off x="334850" y="387510"/>
            <a:ext cx="8474299" cy="6284890"/>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sp>
        <p:nvSpPr>
          <p:cNvPr id="2" name="CuadroTexto 1"/>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6063" y="1914946"/>
            <a:ext cx="4690078" cy="1185292"/>
          </a:xfrm>
          <a:prstGeom prst="rect">
            <a:avLst/>
          </a:prstGeom>
        </p:spPr>
      </p:pic>
      <p:sp>
        <p:nvSpPr>
          <p:cNvPr id="3" name="CuadroTexto 2">
            <a:extLst>
              <a:ext uri="{FF2B5EF4-FFF2-40B4-BE49-F238E27FC236}">
                <a16:creationId xmlns:a16="http://schemas.microsoft.com/office/drawing/2014/main" id="{8409C178-C6B7-4B73-9CBF-DFE1FBC66A93}"/>
              </a:ext>
            </a:extLst>
          </p:cNvPr>
          <p:cNvSpPr txBox="1"/>
          <p:nvPr/>
        </p:nvSpPr>
        <p:spPr>
          <a:xfrm>
            <a:off x="2885092" y="3469304"/>
            <a:ext cx="2982350" cy="1077218"/>
          </a:xfrm>
          <a:prstGeom prst="rect">
            <a:avLst/>
          </a:prstGeom>
          <a:noFill/>
        </p:spPr>
        <p:txBody>
          <a:bodyPr wrap="square" rtlCol="0">
            <a:spAutoFit/>
          </a:bodyPr>
          <a:lstStyle/>
          <a:p>
            <a:pPr algn="ctr"/>
            <a:r>
              <a:rPr lang="es-CO" sz="3200" b="1" dirty="0"/>
              <a:t>MANUAL DEL SGI</a:t>
            </a:r>
          </a:p>
        </p:txBody>
      </p:sp>
    </p:spTree>
    <p:extLst>
      <p:ext uri="{BB962C8B-B14F-4D97-AF65-F5344CB8AC3E}">
        <p14:creationId xmlns:p14="http://schemas.microsoft.com/office/powerpoint/2010/main" val="4052526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220606" y="2390837"/>
            <a:ext cx="1585369" cy="937632"/>
          </a:xfrm>
          <a:prstGeom prst="rect">
            <a:avLst/>
          </a:prstGeom>
        </p:spPr>
      </p:pic>
      <p:pic>
        <p:nvPicPr>
          <p:cNvPr id="90114" name="Picture 2" descr="http://www.brandsoftheworld.com/sites/default/files/styles/logo-thumbnail/public/0023/1714/brand.gif?itok=yt_ZZsfI"/>
          <p:cNvPicPr>
            <a:picLocks noChangeAspect="1" noChangeArrowheads="1"/>
          </p:cNvPicPr>
          <p:nvPr/>
        </p:nvPicPr>
        <p:blipFill rotWithShape="1">
          <a:blip r:embed="rId3">
            <a:extLst>
              <a:ext uri="{28A0092B-C50C-407E-A947-70E740481C1C}">
                <a14:useLocalDpi xmlns:a14="http://schemas.microsoft.com/office/drawing/2010/main" val="0"/>
              </a:ext>
            </a:extLst>
          </a:blip>
          <a:srcRect l="28248" t="15672" r="25408" b="13957"/>
          <a:stretch/>
        </p:blipFill>
        <p:spPr bwMode="auto">
          <a:xfrm>
            <a:off x="7723370" y="4587263"/>
            <a:ext cx="882869" cy="1340571"/>
          </a:xfrm>
          <a:prstGeom prst="rect">
            <a:avLst/>
          </a:prstGeom>
          <a:noFill/>
          <a:extLst>
            <a:ext uri="{909E8E84-426E-40DD-AFC4-6F175D3DCCD1}">
              <a14:hiddenFill xmlns:a14="http://schemas.microsoft.com/office/drawing/2010/main">
                <a:solidFill>
                  <a:srgbClr val="FFFFFF"/>
                </a:solidFill>
              </a14:hiddenFill>
            </a:ext>
          </a:extLst>
        </p:spPr>
      </p:pic>
      <p:sp>
        <p:nvSpPr>
          <p:cNvPr id="10242" name="Rectangle 2"/>
          <p:cNvSpPr>
            <a:spLocks noGrp="1" noChangeArrowheads="1"/>
          </p:cNvSpPr>
          <p:nvPr>
            <p:ph type="title"/>
          </p:nvPr>
        </p:nvSpPr>
        <p:spPr>
          <a:xfrm>
            <a:off x="999723" y="445429"/>
            <a:ext cx="7886700" cy="1325563"/>
          </a:xfrm>
        </p:spPr>
        <p:txBody>
          <a:bodyPr/>
          <a:lstStyle/>
          <a:p>
            <a:pPr eaLnBrk="1" hangingPunct="1"/>
            <a:r>
              <a:rPr lang="es-ES" altLang="es-CO" b="1" dirty="0">
                <a:latin typeface="Arial" pitchFamily="34" charset="0"/>
                <a:cs typeface="Arial" pitchFamily="34" charset="0"/>
              </a:rPr>
              <a:t>RESEÑA HISTORICA</a:t>
            </a:r>
          </a:p>
        </p:txBody>
      </p:sp>
      <p:sp>
        <p:nvSpPr>
          <p:cNvPr id="10243" name="Rectangle 3"/>
          <p:cNvSpPr>
            <a:spLocks noGrp="1" noChangeArrowheads="1"/>
          </p:cNvSpPr>
          <p:nvPr>
            <p:ph idx="1"/>
          </p:nvPr>
        </p:nvSpPr>
        <p:spPr>
          <a:xfrm>
            <a:off x="535787" y="1668515"/>
            <a:ext cx="7124520" cy="4748051"/>
          </a:xfrm>
        </p:spPr>
        <p:txBody>
          <a:bodyPr>
            <a:noAutofit/>
          </a:bodyPr>
          <a:lstStyle/>
          <a:p>
            <a:pPr algn="just"/>
            <a:r>
              <a:rPr lang="es-ES" altLang="es-CO" sz="2000" dirty="0">
                <a:latin typeface="Arial" pitchFamily="34" charset="0"/>
                <a:cs typeface="Arial" pitchFamily="34" charset="0"/>
              </a:rPr>
              <a:t>La empresa TRANSMEBA S.A inició sus labores en 1972, heredando el legado de la empresa TRANSPORTES ABEL AGUDELO LTDA. Encargada de los recorridos Medellín Barbosa.</a:t>
            </a:r>
          </a:p>
          <a:p>
            <a:pPr algn="just" eaLnBrk="1" hangingPunct="1">
              <a:buFont typeface="Wingdings" pitchFamily="2" charset="2"/>
              <a:buNone/>
            </a:pPr>
            <a:endParaRPr lang="es-ES" altLang="es-CO" sz="2000" dirty="0">
              <a:latin typeface="Arial" pitchFamily="34" charset="0"/>
              <a:cs typeface="Arial" pitchFamily="34" charset="0"/>
            </a:endParaRPr>
          </a:p>
          <a:p>
            <a:pPr algn="just"/>
            <a:r>
              <a:rPr lang="es-ES" altLang="es-CO" sz="2000" dirty="0">
                <a:latin typeface="Arial" pitchFamily="34" charset="0"/>
                <a:cs typeface="Arial" pitchFamily="34" charset="0"/>
              </a:rPr>
              <a:t>En agosto de 1989 pasó a ser TRANSMEBA LTDA, manteniéndose con dicha razón social hasta el año 2008 que paso a ser S.A.</a:t>
            </a:r>
          </a:p>
          <a:p>
            <a:pPr algn="just" eaLnBrk="1" hangingPunct="1">
              <a:buFont typeface="Wingdings" pitchFamily="2" charset="2"/>
              <a:buNone/>
            </a:pPr>
            <a:endParaRPr lang="es-ES" altLang="es-CO" sz="2000" dirty="0">
              <a:latin typeface="Arial" pitchFamily="34" charset="0"/>
              <a:cs typeface="Arial" pitchFamily="34" charset="0"/>
            </a:endParaRPr>
          </a:p>
          <a:p>
            <a:pPr algn="just"/>
            <a:r>
              <a:rPr lang="es-ES" altLang="es-CO" sz="2000" dirty="0">
                <a:latin typeface="Arial" pitchFamily="34" charset="0"/>
                <a:cs typeface="Arial" pitchFamily="34" charset="0"/>
              </a:rPr>
              <a:t>Dedicados a la movilización de pasajeros intermunicipal, nos acogemos a la dinámica de cambio del Valle de Aburra y en el año 1.995 nos integramos al servicio de transporte Masivo de Valle de Aburra, una alianza dinámica que nos convierte en integrantes competentes del servicio de transporte del departamento.</a:t>
            </a:r>
          </a:p>
        </p:txBody>
      </p:sp>
      <p:sp>
        <p:nvSpPr>
          <p:cNvPr id="10245" name="5 Marcador de número de diapositiva"/>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3C6E4AD-AC7D-4288-8302-FEEF4C196E6D}" type="slidenum">
              <a:rPr lang="es-ES" smtClean="0">
                <a:solidFill>
                  <a:srgbClr val="929281"/>
                </a:solidFill>
              </a:rPr>
              <a:pPr/>
              <a:t>2</a:t>
            </a:fld>
            <a:endParaRPr lang="es-ES">
              <a:solidFill>
                <a:srgbClr val="929281"/>
              </a:solidFill>
            </a:endParaRPr>
          </a:p>
        </p:txBody>
      </p:sp>
      <p:sp>
        <p:nvSpPr>
          <p:cNvPr id="7" name="Rectángulo redondeado 7"/>
          <p:cNvSpPr/>
          <p:nvPr/>
        </p:nvSpPr>
        <p:spPr>
          <a:xfrm>
            <a:off x="412124" y="186023"/>
            <a:ext cx="8474299" cy="6392197"/>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p:cNvSpPr txBox="1"/>
          <p:nvPr/>
        </p:nvSpPr>
        <p:spPr>
          <a:xfrm>
            <a:off x="7175291" y="6136697"/>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60678" y="371279"/>
            <a:ext cx="1761712" cy="445226"/>
          </a:xfrm>
          <a:prstGeom prst="rect">
            <a:avLst/>
          </a:prstGeom>
        </p:spPr>
      </p:pic>
    </p:spTree>
    <p:extLst>
      <p:ext uri="{BB962C8B-B14F-4D97-AF65-F5344CB8AC3E}">
        <p14:creationId xmlns:p14="http://schemas.microsoft.com/office/powerpoint/2010/main" val="4108938316"/>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ipbf.edu.ec/ipbf/images/home/mis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4221" y="3385605"/>
            <a:ext cx="1811250" cy="2520000"/>
          </a:xfrm>
          <a:prstGeom prst="rect">
            <a:avLst/>
          </a:prstGeom>
          <a:noFill/>
          <a:extLst>
            <a:ext uri="{909E8E84-426E-40DD-AFC4-6F175D3DCCD1}">
              <a14:hiddenFill xmlns:a14="http://schemas.microsoft.com/office/drawing/2010/main">
                <a:solidFill>
                  <a:srgbClr val="FFFFFF"/>
                </a:solidFill>
              </a14:hiddenFill>
            </a:ext>
          </a:extLst>
        </p:spPr>
      </p:pic>
      <p:sp>
        <p:nvSpPr>
          <p:cNvPr id="6" name="Título 5"/>
          <p:cNvSpPr>
            <a:spLocks noGrp="1"/>
          </p:cNvSpPr>
          <p:nvPr>
            <p:ph type="ctrTitle"/>
          </p:nvPr>
        </p:nvSpPr>
        <p:spPr>
          <a:xfrm>
            <a:off x="412124" y="0"/>
            <a:ext cx="6555346" cy="1535345"/>
          </a:xfrm>
        </p:spPr>
        <p:txBody>
          <a:bodyPr>
            <a:noAutofit/>
          </a:bodyPr>
          <a:lstStyle/>
          <a:p>
            <a:r>
              <a:rPr lang="es-CO" sz="4800" dirty="0">
                <a:latin typeface="Arial" panose="020B0604020202020204" pitchFamily="34" charset="0"/>
                <a:cs typeface="Arial" panose="020B0604020202020204" pitchFamily="34" charset="0"/>
              </a:rPr>
              <a:t>¿Qué buscamos?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p:nvSpPr>
        <p:spPr>
          <a:xfrm>
            <a:off x="810761" y="1992312"/>
            <a:ext cx="6313370" cy="3508653"/>
          </a:xfrm>
          <a:prstGeom prst="rect">
            <a:avLst/>
          </a:prstGeom>
          <a:noFill/>
        </p:spPr>
        <p:txBody>
          <a:bodyPr wrap="square" rtlCol="0">
            <a:spAutoFit/>
          </a:bodyPr>
          <a:lstStyle/>
          <a:p>
            <a:pPr algn="ctr"/>
            <a:r>
              <a:rPr lang="es-CO" sz="2000" b="1" cap="all" dirty="0">
                <a:latin typeface="Arial" panose="020B0604020202020204" pitchFamily="34" charset="0"/>
                <a:cs typeface="Arial" panose="020B0604020202020204" pitchFamily="34" charset="0"/>
              </a:rPr>
              <a:t>MISIÓN</a:t>
            </a:r>
            <a:endParaRPr lang="es-CO" sz="2000" dirty="0">
              <a:latin typeface="Arial" panose="020B0604020202020204" pitchFamily="34" charset="0"/>
              <a:cs typeface="Arial" panose="020B0604020202020204" pitchFamily="34" charset="0"/>
            </a:endParaRPr>
          </a:p>
          <a:p>
            <a:pPr algn="just"/>
            <a:r>
              <a:rPr lang="es-CO" sz="2000" dirty="0">
                <a:latin typeface="Arial" panose="020B0604020202020204" pitchFamily="34" charset="0"/>
                <a:cs typeface="Arial" panose="020B0604020202020204" pitchFamily="34" charset="0"/>
              </a:rPr>
              <a:t> </a:t>
            </a:r>
          </a:p>
          <a:p>
            <a:r>
              <a:rPr lang="es-ES" dirty="0"/>
              <a:t>Somos una empresa dedicada a la prestación del servicio de transporte público de pasajeros. Actuamos en las modalidades metropolitana y especial. </a:t>
            </a:r>
            <a:r>
              <a:rPr lang="es-CO" dirty="0"/>
              <a:t>Contamos con un adecuado y moderno parque automotor operado y administrado </a:t>
            </a:r>
            <a:r>
              <a:rPr lang="es-ES" dirty="0"/>
              <a:t>por personal </a:t>
            </a:r>
            <a:r>
              <a:rPr lang="es-CO" dirty="0"/>
              <a:t>competente, </a:t>
            </a:r>
            <a:r>
              <a:rPr lang="es-ES" dirty="0"/>
              <a:t>capacitado, </a:t>
            </a:r>
            <a:r>
              <a:rPr lang="es-CO" dirty="0"/>
              <a:t>y motivado, que nos permite </a:t>
            </a:r>
            <a:r>
              <a:rPr lang="es-ES" dirty="0"/>
              <a:t>ofrecer a nuestros clientes un servicio de calidad, eficiente, ágil y seguro. </a:t>
            </a:r>
            <a:endParaRPr lang="es-CO" dirty="0"/>
          </a:p>
          <a:p>
            <a:r>
              <a:rPr lang="es-ES" dirty="0"/>
              <a:t>A través de nuestros servicios contribuimos al desarrollo económico, social y productivo de los municipios de Medellín y Barbosa. </a:t>
            </a:r>
            <a:endParaRPr lang="es-CO" dirty="0"/>
          </a:p>
          <a:p>
            <a:pPr algn="just"/>
            <a:r>
              <a:rPr lang="es-ES" sz="2000" dirty="0">
                <a:latin typeface="Arial" panose="020B0604020202020204" pitchFamily="34" charset="0"/>
                <a:cs typeface="Arial" panose="020B0604020202020204" pitchFamily="34" charset="0"/>
              </a:rPr>
              <a:t> </a:t>
            </a:r>
            <a:endParaRPr lang="es-CO" sz="2000" dirty="0">
              <a:latin typeface="Arial" panose="020B0604020202020204" pitchFamily="34" charset="0"/>
              <a:cs typeface="Arial" panose="020B0604020202020204" pitchFamily="34" charset="0"/>
            </a:endParaRPr>
          </a:p>
        </p:txBody>
      </p:sp>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9738" y="780858"/>
            <a:ext cx="2117282" cy="535086"/>
          </a:xfrm>
          <a:prstGeom prst="rect">
            <a:avLst/>
          </a:prstGeom>
        </p:spPr>
      </p:pic>
    </p:spTree>
    <p:extLst>
      <p:ext uri="{BB962C8B-B14F-4D97-AF65-F5344CB8AC3E}">
        <p14:creationId xmlns:p14="http://schemas.microsoft.com/office/powerpoint/2010/main" val="1360476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0"/>
            <a:ext cx="6555346" cy="1535345"/>
          </a:xfrm>
        </p:spPr>
        <p:txBody>
          <a:bodyPr>
            <a:noAutofit/>
          </a:bodyPr>
          <a:lstStyle/>
          <a:p>
            <a:r>
              <a:rPr lang="es-CO" sz="4800" dirty="0">
                <a:latin typeface="Arial" panose="020B0604020202020204" pitchFamily="34" charset="0"/>
                <a:cs typeface="Arial" panose="020B0604020202020204" pitchFamily="34" charset="0"/>
              </a:rPr>
              <a:t>¿Qué buscamos?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p:nvSpPr>
        <p:spPr>
          <a:xfrm>
            <a:off x="2988860" y="2228371"/>
            <a:ext cx="5354322" cy="2862322"/>
          </a:xfrm>
          <a:prstGeom prst="rect">
            <a:avLst/>
          </a:prstGeom>
          <a:noFill/>
        </p:spPr>
        <p:txBody>
          <a:bodyPr wrap="square" rtlCol="0">
            <a:spAutoFit/>
          </a:bodyPr>
          <a:lstStyle/>
          <a:p>
            <a:pPr algn="ctr"/>
            <a:r>
              <a:rPr lang="es-CO" b="1" cap="all" dirty="0">
                <a:latin typeface="Arial" panose="020B0604020202020204" pitchFamily="34" charset="0"/>
                <a:cs typeface="Arial" panose="020B0604020202020204" pitchFamily="34" charset="0"/>
              </a:rPr>
              <a:t>Visión</a:t>
            </a:r>
          </a:p>
          <a:p>
            <a:pPr algn="ctr"/>
            <a:endParaRPr lang="es-CO" dirty="0">
              <a:latin typeface="Arial" panose="020B0604020202020204" pitchFamily="34" charset="0"/>
              <a:cs typeface="Arial" panose="020B0604020202020204" pitchFamily="34" charset="0"/>
            </a:endParaRPr>
          </a:p>
          <a:p>
            <a:r>
              <a:rPr lang="es-CO" dirty="0"/>
              <a:t>S</a:t>
            </a:r>
            <a:r>
              <a:rPr lang="es-ES" dirty="0" err="1"/>
              <a:t>er</a:t>
            </a:r>
            <a:r>
              <a:rPr lang="es-ES" dirty="0"/>
              <a:t> la empresa líder en la prestación del servicio de transporte de pasajeros de Antioquia, gestionando nuestro recurso humano e innovando constantemente nuestra planta vehicular. Posicionándonos como la mejor alternativa en el servicio de pasajeros en las rutas que cubrimos, y como un aliado estratégico de negocio para las empresas que movilizan su personal en la modalidad especial.</a:t>
            </a:r>
            <a:endParaRPr lang="es-CO"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774" y="2878773"/>
            <a:ext cx="2228507" cy="2520000"/>
          </a:xfrm>
          <a:prstGeom prst="rect">
            <a:avLst/>
          </a:prstGeom>
        </p:spPr>
      </p:pic>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487" y="771524"/>
            <a:ext cx="2130333" cy="538385"/>
          </a:xfrm>
          <a:prstGeom prst="rect">
            <a:avLst/>
          </a:prstGeom>
        </p:spPr>
      </p:pic>
    </p:spTree>
    <p:extLst>
      <p:ext uri="{BB962C8B-B14F-4D97-AF65-F5344CB8AC3E}">
        <p14:creationId xmlns:p14="http://schemas.microsoft.com/office/powerpoint/2010/main" val="481518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325596" y="-149669"/>
            <a:ext cx="6555346" cy="1535345"/>
          </a:xfrm>
        </p:spPr>
        <p:txBody>
          <a:bodyPr>
            <a:noAutofit/>
          </a:bodyPr>
          <a:lstStyle/>
          <a:p>
            <a:r>
              <a:rPr lang="es-CO" sz="4800" dirty="0">
                <a:latin typeface="Arial" panose="020B0604020202020204" pitchFamily="34" charset="0"/>
                <a:cs typeface="Arial" panose="020B0604020202020204" pitchFamily="34" charset="0"/>
              </a:rPr>
              <a:t>Nuestros Valores: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422560" y="2772444"/>
            <a:ext cx="2135307" cy="2135307"/>
          </a:xfrm>
          <a:prstGeom prst="rect">
            <a:avLst/>
          </a:prstGeom>
        </p:spPr>
      </p:pic>
      <p:sp>
        <p:nvSpPr>
          <p:cNvPr id="2" name="CuadroTexto 1"/>
          <p:cNvSpPr txBox="1"/>
          <p:nvPr/>
        </p:nvSpPr>
        <p:spPr>
          <a:xfrm>
            <a:off x="812926" y="1979142"/>
            <a:ext cx="5958834" cy="4093428"/>
          </a:xfrm>
          <a:prstGeom prst="rect">
            <a:avLst/>
          </a:prstGeom>
          <a:noFill/>
        </p:spPr>
        <p:txBody>
          <a:bodyPr wrap="square" rtlCol="0">
            <a:spAutoFit/>
          </a:bodyPr>
          <a:lstStyle/>
          <a:p>
            <a:pPr marL="285750" lvl="0" indent="-285750">
              <a:buFont typeface="Arial" panose="020B0604020202020204" pitchFamily="34" charset="0"/>
              <a:buChar char="•"/>
            </a:pPr>
            <a:r>
              <a:rPr lang="es-ES" sz="2000" b="1" dirty="0">
                <a:latin typeface="Arial" panose="020B0604020202020204" pitchFamily="34" charset="0"/>
                <a:cs typeface="Arial" panose="020B0604020202020204" pitchFamily="34" charset="0"/>
              </a:rPr>
              <a:t>HONESTIDAD: </a:t>
            </a:r>
            <a:r>
              <a:rPr lang="es-ES" sz="2000" dirty="0">
                <a:latin typeface="Arial" panose="020B0604020202020204" pitchFamily="34" charset="0"/>
                <a:cs typeface="Arial" panose="020B0604020202020204" pitchFamily="34" charset="0"/>
              </a:rPr>
              <a:t>ofrecemos un servicio de transporte confiable, para lo cual actuamos con rectitud y transparencia.</a:t>
            </a:r>
            <a:endParaRPr lang="es-CO" sz="20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s-ES" sz="2000" b="1" dirty="0">
                <a:latin typeface="Arial" panose="020B0604020202020204" pitchFamily="34" charset="0"/>
                <a:cs typeface="Arial" panose="020B0604020202020204" pitchFamily="34" charset="0"/>
              </a:rPr>
              <a:t>RESPETO: </a:t>
            </a:r>
            <a:r>
              <a:rPr lang="es-ES" sz="2000" dirty="0">
                <a:latin typeface="Arial" panose="020B0604020202020204" pitchFamily="34" charset="0"/>
                <a:cs typeface="Arial" panose="020B0604020202020204" pitchFamily="34" charset="0"/>
              </a:rPr>
              <a:t>buscamos la cordialidad sin ningún tipo de discriminación como el trato ejemplar para con nuestros usuarios.</a:t>
            </a:r>
            <a:endParaRPr lang="es-CO" sz="20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s-ES" sz="2000" b="1" dirty="0">
                <a:latin typeface="Arial" panose="020B0604020202020204" pitchFamily="34" charset="0"/>
                <a:cs typeface="Arial" panose="020B0604020202020204" pitchFamily="34" charset="0"/>
              </a:rPr>
              <a:t>RESPONSABILIDAD: </a:t>
            </a:r>
            <a:r>
              <a:rPr lang="es-ES" sz="2000" dirty="0">
                <a:latin typeface="Arial" panose="020B0604020202020204" pitchFamily="34" charset="0"/>
                <a:cs typeface="Arial" panose="020B0604020202020204" pitchFamily="34" charset="0"/>
              </a:rPr>
              <a:t>estamos comprometidos con la seguridad de nuestros usuarios, trabajando eficientemente cada una de nuestras labores.</a:t>
            </a:r>
            <a:endParaRPr lang="es-CO" sz="20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s-ES" sz="2000" b="1" dirty="0">
                <a:latin typeface="Arial" panose="020B0604020202020204" pitchFamily="34" charset="0"/>
                <a:cs typeface="Arial" panose="020B0604020202020204" pitchFamily="34" charset="0"/>
              </a:rPr>
              <a:t>TRABAJO EN EQUIPO:</a:t>
            </a:r>
            <a:r>
              <a:rPr lang="es-ES" sz="2000" dirty="0">
                <a:latin typeface="Arial" panose="020B0604020202020204" pitchFamily="34" charset="0"/>
                <a:cs typeface="Arial" panose="020B0604020202020204" pitchFamily="34" charset="0"/>
              </a:rPr>
              <a:t> unimos esfuerzos para lograr la prestación de un servicio ágil, eficiente y seguro.</a:t>
            </a:r>
            <a:endParaRPr lang="es-CO" sz="2000" dirty="0">
              <a:latin typeface="Arial" panose="020B0604020202020204" pitchFamily="34" charset="0"/>
              <a:cs typeface="Arial" panose="020B0604020202020204" pitchFamily="34" charset="0"/>
            </a:endParaRPr>
          </a:p>
        </p:txBody>
      </p:sp>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2560" y="552585"/>
            <a:ext cx="1957470" cy="494698"/>
          </a:xfrm>
          <a:prstGeom prst="rect">
            <a:avLst/>
          </a:prstGeom>
        </p:spPr>
      </p:pic>
    </p:spTree>
    <p:extLst>
      <p:ext uri="{BB962C8B-B14F-4D97-AF65-F5344CB8AC3E}">
        <p14:creationId xmlns:p14="http://schemas.microsoft.com/office/powerpoint/2010/main" val="3784138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270456"/>
            <a:ext cx="6555346" cy="1535345"/>
          </a:xfrm>
        </p:spPr>
        <p:txBody>
          <a:bodyPr>
            <a:noAutofit/>
          </a:bodyPr>
          <a:lstStyle/>
          <a:p>
            <a:r>
              <a:rPr lang="es-CO" sz="4800" dirty="0">
                <a:latin typeface="Arial" panose="020B0604020202020204" pitchFamily="34" charset="0"/>
                <a:cs typeface="Arial" panose="020B0604020202020204" pitchFamily="34" charset="0"/>
              </a:rPr>
              <a:t>Nuestros Alcance:</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596569" y="2772442"/>
            <a:ext cx="2135307" cy="2135307"/>
          </a:xfrm>
          <a:prstGeom prst="rect">
            <a:avLst/>
          </a:prstGeom>
        </p:spPr>
      </p:pic>
      <p:sp>
        <p:nvSpPr>
          <p:cNvPr id="9" name="Título 5"/>
          <p:cNvSpPr txBox="1">
            <a:spLocks/>
          </p:cNvSpPr>
          <p:nvPr/>
        </p:nvSpPr>
        <p:spPr>
          <a:xfrm>
            <a:off x="731521" y="2183867"/>
            <a:ext cx="5560098" cy="331245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O" sz="3200" b="1" dirty="0">
                <a:latin typeface="Arial" panose="020B0604020202020204" pitchFamily="34" charset="0"/>
                <a:cs typeface="Arial" panose="020B0604020202020204" pitchFamily="34" charset="0"/>
              </a:rPr>
              <a:t>Prestación del servicio de transporte público de pasajeros en la modalidad de servicio especiales empresarial, metropolitana-alimentadora </a:t>
            </a:r>
          </a:p>
        </p:txBody>
      </p:sp>
      <p:sp>
        <p:nvSpPr>
          <p:cNvPr id="10" name="CuadroTexto 9"/>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2560" y="584745"/>
            <a:ext cx="1983958" cy="501392"/>
          </a:xfrm>
          <a:prstGeom prst="rect">
            <a:avLst/>
          </a:prstGeom>
        </p:spPr>
      </p:pic>
    </p:spTree>
    <p:extLst>
      <p:ext uri="{BB962C8B-B14F-4D97-AF65-F5344CB8AC3E}">
        <p14:creationId xmlns:p14="http://schemas.microsoft.com/office/powerpoint/2010/main" val="1098378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68992" y="302654"/>
            <a:ext cx="6555346" cy="1535345"/>
          </a:xfrm>
        </p:spPr>
        <p:txBody>
          <a:bodyPr>
            <a:noAutofit/>
          </a:bodyPr>
          <a:lstStyle/>
          <a:p>
            <a:r>
              <a:rPr lang="es-CO" sz="4800" b="1" dirty="0">
                <a:latin typeface="Arial" panose="020B0604020202020204" pitchFamily="34" charset="0"/>
                <a:cs typeface="Arial" panose="020B0604020202020204" pitchFamily="34" charset="0"/>
              </a:rPr>
              <a:t>NO APLICABILIDAD:</a:t>
            </a: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607278" y="2935691"/>
            <a:ext cx="2135307" cy="2135307"/>
          </a:xfrm>
          <a:prstGeom prst="rect">
            <a:avLst/>
          </a:prstGeom>
        </p:spPr>
      </p:pic>
      <p:sp>
        <p:nvSpPr>
          <p:cNvPr id="9" name="Título 5"/>
          <p:cNvSpPr txBox="1">
            <a:spLocks/>
          </p:cNvSpPr>
          <p:nvPr/>
        </p:nvSpPr>
        <p:spPr>
          <a:xfrm>
            <a:off x="594309" y="2104266"/>
            <a:ext cx="5830784" cy="36437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O" sz="2800" dirty="0">
                <a:latin typeface="Arial" panose="020B0604020202020204" pitchFamily="34" charset="0"/>
                <a:cs typeface="Arial" panose="020B0604020202020204" pitchFamily="34" charset="0"/>
              </a:rPr>
              <a:t>De la norma ISO 9001se excluye el numeral 8.3 Diseño y Desarrollo ya que la empresa opera unas rutas asignadas por la autoridad competente y para la modalidad de servicios especiales se programan de acuerdo a los requisitos de los clientes</a:t>
            </a:r>
            <a:r>
              <a:rPr lang="es-CO" sz="3200" b="1" dirty="0">
                <a:latin typeface="Arial" panose="020B0604020202020204" pitchFamily="34" charset="0"/>
                <a:cs typeface="Arial" panose="020B0604020202020204" pitchFamily="34" charset="0"/>
              </a:rPr>
              <a:t>. </a:t>
            </a:r>
          </a:p>
        </p:txBody>
      </p:sp>
      <p:sp>
        <p:nvSpPr>
          <p:cNvPr id="10" name="CuadroTexto 9"/>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8656" y="525599"/>
            <a:ext cx="2134533" cy="539446"/>
          </a:xfrm>
          <a:prstGeom prst="rect">
            <a:avLst/>
          </a:prstGeom>
        </p:spPr>
      </p:pic>
    </p:spTree>
    <p:extLst>
      <p:ext uri="{BB962C8B-B14F-4D97-AF65-F5344CB8AC3E}">
        <p14:creationId xmlns:p14="http://schemas.microsoft.com/office/powerpoint/2010/main" val="600162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380215" y="123287"/>
            <a:ext cx="6555346" cy="1535345"/>
          </a:xfrm>
        </p:spPr>
        <p:txBody>
          <a:bodyPr>
            <a:noAutofit/>
          </a:bodyPr>
          <a:lstStyle/>
          <a:p>
            <a:r>
              <a:rPr lang="es-CO" sz="4800" dirty="0">
                <a:latin typeface="Arial" panose="020B0604020202020204" pitchFamily="34" charset="0"/>
                <a:cs typeface="Arial" panose="020B0604020202020204" pitchFamily="34" charset="0"/>
              </a:rPr>
              <a:t> Propiedad del Cliente :</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CuadroTexto 1"/>
          <p:cNvSpPr txBox="1"/>
          <p:nvPr/>
        </p:nvSpPr>
        <p:spPr>
          <a:xfrm>
            <a:off x="812926" y="2063796"/>
            <a:ext cx="5819886" cy="4093428"/>
          </a:xfrm>
          <a:prstGeom prst="rect">
            <a:avLst/>
          </a:prstGeom>
          <a:noFill/>
        </p:spPr>
        <p:txBody>
          <a:bodyPr wrap="square" rtlCol="0">
            <a:spAutoFit/>
          </a:bodyPr>
          <a:lstStyle/>
          <a:p>
            <a:pPr lvl="0" algn="just"/>
            <a:r>
              <a:rPr lang="es-CO" sz="2000" dirty="0">
                <a:latin typeface="Arial" panose="020B0604020202020204" pitchFamily="34" charset="0"/>
                <a:cs typeface="Arial" panose="020B0604020202020204" pitchFamily="34" charset="0"/>
              </a:rPr>
              <a:t>En Transmeba S.A , la confidencialidad de todo tipo de  información que provenga de cada uno de nuestros clientes internos y externos es tratada bajo los mas estrictos principios de confidencialidad y reserva. Formamos a nuestro personal en el manejo de la información, que en la dinámica de nuestros valores corporativos nos garantizar la comunicación asertiva y discreta del equipo. La empresa no se hace responsable de los elementos que los usuarios dejen el los vehículos, cuando el personal de la empresa  encuentre dichos elementos se le dará el respectivo proceso para su devolución.</a:t>
            </a:r>
            <a:endParaRPr lang="es-CO" sz="2000" dirty="0">
              <a:solidFill>
                <a:srgbClr val="FF0000"/>
              </a:solidFill>
              <a:latin typeface="Arial" panose="020B0604020202020204" pitchFamily="34" charset="0"/>
              <a:cs typeface="Arial" panose="020B0604020202020204" pitchFamily="34" charset="0"/>
            </a:endParaRPr>
          </a:p>
        </p:txBody>
      </p:sp>
      <p:pic>
        <p:nvPicPr>
          <p:cNvPr id="108546" name="Picture 2" descr="https://encrypted-tbn2.gstatic.com/images?q=tbn:ANd9GcSNSjqlqjykd-o1p5wysTxr8f_jrY3ZtOh7Qc63d7HFtDGEgqZ1T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3921" y="3137208"/>
            <a:ext cx="1524000" cy="1152526"/>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32812" y="513004"/>
            <a:ext cx="1775109" cy="448611"/>
          </a:xfrm>
          <a:prstGeom prst="rect">
            <a:avLst/>
          </a:prstGeom>
        </p:spPr>
      </p:pic>
    </p:spTree>
    <p:extLst>
      <p:ext uri="{BB962C8B-B14F-4D97-AF65-F5344CB8AC3E}">
        <p14:creationId xmlns:p14="http://schemas.microsoft.com/office/powerpoint/2010/main" val="1324792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639540"/>
            <a:ext cx="6555346" cy="970616"/>
          </a:xfrm>
        </p:spPr>
        <p:txBody>
          <a:bodyPr>
            <a:noAutofit/>
          </a:bodyPr>
          <a:lstStyle/>
          <a:p>
            <a:r>
              <a:rPr lang="es-CO" sz="4800" dirty="0">
                <a:latin typeface="Arial" panose="020B0604020202020204" pitchFamily="34" charset="0"/>
                <a:cs typeface="Arial" panose="020B0604020202020204" pitchFamily="34" charset="0"/>
              </a:rPr>
              <a:t> Requisitos Legales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422560" y="2772444"/>
            <a:ext cx="2135307" cy="2135307"/>
          </a:xfrm>
          <a:prstGeom prst="rect">
            <a:avLst/>
          </a:prstGeom>
        </p:spPr>
      </p:pic>
      <p:sp>
        <p:nvSpPr>
          <p:cNvPr id="7" name="CuadroTexto 1"/>
          <p:cNvSpPr txBox="1"/>
          <p:nvPr/>
        </p:nvSpPr>
        <p:spPr>
          <a:xfrm>
            <a:off x="812925" y="2131937"/>
            <a:ext cx="5178441" cy="3416320"/>
          </a:xfrm>
          <a:prstGeom prst="rect">
            <a:avLst/>
          </a:prstGeom>
          <a:noFill/>
        </p:spPr>
        <p:txBody>
          <a:bodyPr wrap="square" rtlCol="0">
            <a:spAutoFit/>
          </a:bodyPr>
          <a:lstStyle/>
          <a:p>
            <a:pPr lvl="0" algn="just"/>
            <a:r>
              <a:rPr lang="es-CO" sz="2400" dirty="0">
                <a:latin typeface="Arial" panose="020B0604020202020204" pitchFamily="34" charset="0"/>
                <a:cs typeface="Arial" panose="020B0604020202020204" pitchFamily="34" charset="0"/>
              </a:rPr>
              <a:t>La </a:t>
            </a:r>
            <a:r>
              <a:rPr lang="es-CO" sz="2400" b="1" dirty="0">
                <a:latin typeface="Arial" panose="020B0604020202020204" pitchFamily="34" charset="0"/>
                <a:cs typeface="Arial" panose="020B0604020202020204" pitchFamily="34" charset="0"/>
              </a:rPr>
              <a:t>SGI-MT-01 Matriz de Requisitos Legales </a:t>
            </a:r>
            <a:r>
              <a:rPr lang="es-CO" sz="2400" dirty="0">
                <a:latin typeface="Arial" panose="020B0604020202020204" pitchFamily="34" charset="0"/>
                <a:cs typeface="Arial" panose="020B0604020202020204" pitchFamily="34" charset="0"/>
              </a:rPr>
              <a:t>nos informará de la normatividad aplicable que debemos cumplir para garantiza espacios de trabajo confiables, promover el cuidado integral del medio ambiente y brindar un servicio de transporte seguro a cada una de nuestras partes interesadas</a:t>
            </a:r>
          </a:p>
        </p:txBody>
      </p:sp>
      <p:sp>
        <p:nvSpPr>
          <p:cNvPr id="10" name="CuadroTexto 9"/>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5691" y="539211"/>
            <a:ext cx="1922093" cy="485758"/>
          </a:xfrm>
          <a:prstGeom prst="rect">
            <a:avLst/>
          </a:prstGeom>
        </p:spPr>
      </p:pic>
    </p:spTree>
    <p:extLst>
      <p:ext uri="{BB962C8B-B14F-4D97-AF65-F5344CB8AC3E}">
        <p14:creationId xmlns:p14="http://schemas.microsoft.com/office/powerpoint/2010/main" val="2808171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653084"/>
            <a:ext cx="6555346" cy="970616"/>
          </a:xfrm>
        </p:spPr>
        <p:txBody>
          <a:bodyPr>
            <a:noAutofit/>
          </a:bodyPr>
          <a:lstStyle/>
          <a:p>
            <a:r>
              <a:rPr lang="es-CO" sz="4800" dirty="0">
                <a:latin typeface="Arial" panose="020B0604020202020204" pitchFamily="34" charset="0"/>
                <a:cs typeface="Arial" panose="020B0604020202020204" pitchFamily="34" charset="0"/>
              </a:rPr>
              <a:t> Riesgos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422560" y="2772444"/>
            <a:ext cx="2135307" cy="2135307"/>
          </a:xfrm>
          <a:prstGeom prst="rect">
            <a:avLst/>
          </a:prstGeom>
        </p:spPr>
      </p:pic>
      <p:sp>
        <p:nvSpPr>
          <p:cNvPr id="9" name="CuadroTexto 1"/>
          <p:cNvSpPr txBox="1"/>
          <p:nvPr/>
        </p:nvSpPr>
        <p:spPr>
          <a:xfrm>
            <a:off x="812925" y="1929078"/>
            <a:ext cx="5178441" cy="4154984"/>
          </a:xfrm>
          <a:prstGeom prst="rect">
            <a:avLst/>
          </a:prstGeom>
          <a:noFill/>
        </p:spPr>
        <p:txBody>
          <a:bodyPr wrap="square" rtlCol="0">
            <a:spAutoFit/>
          </a:bodyPr>
          <a:lstStyle/>
          <a:p>
            <a:pPr lvl="0" algn="just"/>
            <a:r>
              <a:rPr lang="es-CO" sz="2400" dirty="0">
                <a:latin typeface="Arial" panose="020B0604020202020204" pitchFamily="34" charset="0"/>
                <a:cs typeface="Arial" panose="020B0604020202020204" pitchFamily="34" charset="0"/>
              </a:rPr>
              <a:t>La </a:t>
            </a:r>
            <a:r>
              <a:rPr lang="es-CO" sz="2400" b="1" dirty="0">
                <a:latin typeface="Arial" panose="020B0604020202020204" pitchFamily="34" charset="0"/>
                <a:cs typeface="Arial" panose="020B0604020202020204" pitchFamily="34" charset="0"/>
              </a:rPr>
              <a:t>SST</a:t>
            </a:r>
            <a:r>
              <a:rPr lang="es-CO" sz="2400" dirty="0">
                <a:latin typeface="Arial" panose="020B0604020202020204" pitchFamily="34" charset="0"/>
                <a:cs typeface="Arial" panose="020B0604020202020204" pitchFamily="34" charset="0"/>
              </a:rPr>
              <a:t>-</a:t>
            </a:r>
            <a:r>
              <a:rPr lang="es-CO" sz="2400" b="1" dirty="0">
                <a:latin typeface="Arial" panose="020B0604020202020204" pitchFamily="34" charset="0"/>
                <a:cs typeface="Arial" panose="020B0604020202020204" pitchFamily="34" charset="0"/>
              </a:rPr>
              <a:t>MT-01 Matriz Identificación de Peligros, Evaluación y Valoración del Riesgo </a:t>
            </a:r>
            <a:r>
              <a:rPr lang="es-CO" sz="2400" dirty="0">
                <a:latin typeface="Arial" panose="020B0604020202020204" pitchFamily="34" charset="0"/>
                <a:cs typeface="Arial" panose="020B0604020202020204" pitchFamily="34" charset="0"/>
              </a:rPr>
              <a:t>se pueden identificar los peligros y riesgos a lo cual nuestro personal interno y externo se encuentra expuesto, igualmente se analizan medidas de intervención para prevenirlas, evitando la   ocurrencia de accidentes en cada una de las instalaciones de la compañía</a:t>
            </a:r>
          </a:p>
        </p:txBody>
      </p:sp>
      <p:sp>
        <p:nvSpPr>
          <p:cNvPr id="10" name="CuadroTexto 9"/>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393" y="741713"/>
            <a:ext cx="2056895" cy="519825"/>
          </a:xfrm>
          <a:prstGeom prst="rect">
            <a:avLst/>
          </a:prstGeom>
        </p:spPr>
      </p:pic>
    </p:spTree>
    <p:extLst>
      <p:ext uri="{BB962C8B-B14F-4D97-AF65-F5344CB8AC3E}">
        <p14:creationId xmlns:p14="http://schemas.microsoft.com/office/powerpoint/2010/main" val="436182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1552952"/>
            <a:ext cx="6555346" cy="970616"/>
          </a:xfrm>
        </p:spPr>
        <p:txBody>
          <a:bodyPr>
            <a:noAutofit/>
          </a:bodyPr>
          <a:lstStyle/>
          <a:p>
            <a:r>
              <a:rPr lang="es-CO" sz="4800" dirty="0">
                <a:latin typeface="Arial" panose="020B0604020202020204" pitchFamily="34" charset="0"/>
                <a:cs typeface="Arial" panose="020B0604020202020204" pitchFamily="34" charset="0"/>
              </a:rPr>
              <a:t> Nuestros Procedimientos y Caracterizaciones </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1"/>
          <p:cNvSpPr txBox="1"/>
          <p:nvPr/>
        </p:nvSpPr>
        <p:spPr>
          <a:xfrm>
            <a:off x="681980" y="2653436"/>
            <a:ext cx="4763478" cy="3416320"/>
          </a:xfrm>
          <a:prstGeom prst="rect">
            <a:avLst/>
          </a:prstGeom>
          <a:noFill/>
        </p:spPr>
        <p:txBody>
          <a:bodyPr wrap="square" rtlCol="0">
            <a:spAutoFit/>
          </a:bodyPr>
          <a:lstStyle/>
          <a:p>
            <a:pPr lvl="0" algn="just"/>
            <a:r>
              <a:rPr lang="es-CO" sz="2400" dirty="0">
                <a:latin typeface="Arial" panose="020B0604020202020204" pitchFamily="34" charset="0"/>
                <a:cs typeface="Arial" panose="020B0604020202020204" pitchFamily="34" charset="0"/>
              </a:rPr>
              <a:t>Documentar cada uno de nuestros procesos y estandarizar las actividades que se realicen en los puestos de trabajo nos garantizan desarrollar las tareas de forma eficaz, aumentado la productividad del trabajo realizado en cada una de las áreas de la compañía</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90204" y="2868743"/>
            <a:ext cx="1947253" cy="1417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CuadroTexto"/>
          <p:cNvSpPr txBox="1"/>
          <p:nvPr/>
        </p:nvSpPr>
        <p:spPr>
          <a:xfrm>
            <a:off x="6290203" y="5047013"/>
            <a:ext cx="1947253" cy="646331"/>
          </a:xfrm>
          <a:prstGeom prst="rect">
            <a:avLst/>
          </a:prstGeom>
          <a:noFill/>
        </p:spPr>
        <p:txBody>
          <a:bodyPr wrap="square" rtlCol="0">
            <a:spAutoFit/>
          </a:bodyPr>
          <a:lstStyle/>
          <a:p>
            <a:pPr algn="ctr"/>
            <a:r>
              <a:rPr lang="es-CO" b="1" dirty="0"/>
              <a:t>Ver Caracterizaciones</a:t>
            </a:r>
          </a:p>
        </p:txBody>
      </p:sp>
      <p:cxnSp>
        <p:nvCxnSpPr>
          <p:cNvPr id="10" name="9 Conector recto de flecha"/>
          <p:cNvCxnSpPr/>
          <p:nvPr/>
        </p:nvCxnSpPr>
        <p:spPr>
          <a:xfrm flipH="1" flipV="1">
            <a:off x="7257891" y="4361596"/>
            <a:ext cx="11876" cy="499168"/>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11" name="CuadroTexto 10"/>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0223" y="690132"/>
            <a:ext cx="2048269" cy="517645"/>
          </a:xfrm>
          <a:prstGeom prst="rect">
            <a:avLst/>
          </a:prstGeom>
        </p:spPr>
      </p:pic>
    </p:spTree>
    <p:extLst>
      <p:ext uri="{BB962C8B-B14F-4D97-AF65-F5344CB8AC3E}">
        <p14:creationId xmlns:p14="http://schemas.microsoft.com/office/powerpoint/2010/main" val="3109916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CuadroTexto 1"/>
          <p:cNvSpPr txBox="1"/>
          <p:nvPr/>
        </p:nvSpPr>
        <p:spPr>
          <a:xfrm>
            <a:off x="900344" y="2339599"/>
            <a:ext cx="4763478" cy="3785652"/>
          </a:xfrm>
          <a:prstGeom prst="rect">
            <a:avLst/>
          </a:prstGeom>
          <a:noFill/>
        </p:spPr>
        <p:txBody>
          <a:bodyPr wrap="square" rtlCol="0">
            <a:spAutoFit/>
          </a:bodyPr>
          <a:lstStyle/>
          <a:p>
            <a:pPr lvl="0" algn="just"/>
            <a:r>
              <a:rPr lang="es-CO" sz="2400" dirty="0">
                <a:latin typeface="Arial" panose="020B0604020202020204" pitchFamily="34" charset="0"/>
                <a:cs typeface="Arial" panose="020B0604020202020204" pitchFamily="34" charset="0"/>
              </a:rPr>
              <a:t>Para la norma ISO 9001 es obligatorio que la empresa adapte los siguientes procedimientos para evidenciar su mejora continua:</a:t>
            </a:r>
          </a:p>
          <a:p>
            <a:pPr lvl="0" algn="just"/>
            <a:endParaRPr lang="es-CO" sz="2400" dirty="0">
              <a:latin typeface="Arial" panose="020B0604020202020204" pitchFamily="34" charset="0"/>
              <a:cs typeface="Arial" panose="020B0604020202020204" pitchFamily="34" charset="0"/>
            </a:endParaRPr>
          </a:p>
          <a:p>
            <a:pPr marL="342900" lvl="0" indent="-342900" algn="just">
              <a:buFont typeface="Arial" pitchFamily="34" charset="0"/>
              <a:buChar char="•"/>
            </a:pPr>
            <a:r>
              <a:rPr lang="es-CO" sz="2400" dirty="0">
                <a:latin typeface="Arial" panose="020B0604020202020204" pitchFamily="34" charset="0"/>
                <a:cs typeface="Arial" panose="020B0604020202020204" pitchFamily="34" charset="0"/>
              </a:rPr>
              <a:t>Control de Documentos</a:t>
            </a:r>
          </a:p>
          <a:p>
            <a:pPr marL="342900" lvl="0" indent="-342900" algn="just">
              <a:buFont typeface="Arial" pitchFamily="34" charset="0"/>
              <a:buChar char="•"/>
            </a:pPr>
            <a:r>
              <a:rPr lang="es-CO" sz="2400" dirty="0">
                <a:latin typeface="Arial" panose="020B0604020202020204" pitchFamily="34" charset="0"/>
                <a:cs typeface="Arial" panose="020B0604020202020204" pitchFamily="34" charset="0"/>
              </a:rPr>
              <a:t>Acciones Correctivas</a:t>
            </a:r>
          </a:p>
          <a:p>
            <a:pPr marL="342900" lvl="0" indent="-342900" algn="just">
              <a:buFont typeface="Arial" pitchFamily="34" charset="0"/>
              <a:buChar char="•"/>
            </a:pPr>
            <a:r>
              <a:rPr lang="es-CO" sz="2400" dirty="0">
                <a:latin typeface="Arial" panose="020B0604020202020204" pitchFamily="34" charset="0"/>
                <a:cs typeface="Arial" panose="020B0604020202020204" pitchFamily="34" charset="0"/>
              </a:rPr>
              <a:t>Producto no Conforme</a:t>
            </a:r>
          </a:p>
          <a:p>
            <a:pPr marL="342900" lvl="0" indent="-342900" algn="just">
              <a:buFont typeface="Arial" pitchFamily="34" charset="0"/>
              <a:buChar char="•"/>
            </a:pPr>
            <a:r>
              <a:rPr lang="es-CO" sz="2400" dirty="0">
                <a:latin typeface="Arial" panose="020B0604020202020204" pitchFamily="34" charset="0"/>
                <a:cs typeface="Arial" panose="020B0604020202020204" pitchFamily="34" charset="0"/>
              </a:rPr>
              <a:t>Auditorias Internas</a:t>
            </a:r>
          </a:p>
        </p:txBody>
      </p:sp>
      <p:sp>
        <p:nvSpPr>
          <p:cNvPr id="11" name="Título 5"/>
          <p:cNvSpPr>
            <a:spLocks noGrp="1"/>
          </p:cNvSpPr>
          <p:nvPr>
            <p:ph type="ctrTitle"/>
          </p:nvPr>
        </p:nvSpPr>
        <p:spPr>
          <a:xfrm>
            <a:off x="412124" y="839027"/>
            <a:ext cx="6679438" cy="970616"/>
          </a:xfrm>
        </p:spPr>
        <p:txBody>
          <a:bodyPr>
            <a:noAutofit/>
          </a:bodyPr>
          <a:lstStyle/>
          <a:p>
            <a:r>
              <a:rPr lang="es-CO" sz="4400" b="1" dirty="0">
                <a:latin typeface="Arial" panose="020B0604020202020204" pitchFamily="34" charset="0"/>
                <a:cs typeface="Arial" panose="020B0604020202020204" pitchFamily="34" charset="0"/>
              </a:rPr>
              <a:t>Procedimientos Obligatorios ISO 9001</a:t>
            </a:r>
          </a:p>
        </p:txBody>
      </p:sp>
      <p:pic>
        <p:nvPicPr>
          <p:cNvPr id="2050" name="Picture 2" descr="http://www.cnprat.com/wp-content/uploads/2014/10/documento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617" y="3152633"/>
            <a:ext cx="3127612" cy="3127612"/>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80507" y="671237"/>
            <a:ext cx="1864722" cy="471259"/>
          </a:xfrm>
          <a:prstGeom prst="rect">
            <a:avLst/>
          </a:prstGeom>
        </p:spPr>
      </p:pic>
    </p:spTree>
    <p:extLst>
      <p:ext uri="{BB962C8B-B14F-4D97-AF65-F5344CB8AC3E}">
        <p14:creationId xmlns:p14="http://schemas.microsoft.com/office/powerpoint/2010/main" val="311097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0"/>
            <a:ext cx="6555346" cy="1535345"/>
          </a:xfrm>
        </p:spPr>
        <p:txBody>
          <a:bodyPr>
            <a:noAutofit/>
          </a:bodyPr>
          <a:lstStyle/>
          <a:p>
            <a:r>
              <a:rPr lang="es-CO" sz="4800" dirty="0">
                <a:latin typeface="Arial" panose="020B0604020202020204" pitchFamily="34" charset="0"/>
                <a:cs typeface="Arial" panose="020B0604020202020204" pitchFamily="34" charset="0"/>
              </a:rPr>
              <a:t>ORGANIGRAMA</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CuadroTexto 2"/>
          <p:cNvSpPr txBox="1"/>
          <p:nvPr/>
        </p:nvSpPr>
        <p:spPr>
          <a:xfrm>
            <a:off x="586855" y="1914084"/>
            <a:ext cx="4544704" cy="369332"/>
          </a:xfrm>
          <a:prstGeom prst="rect">
            <a:avLst/>
          </a:prstGeom>
          <a:noFill/>
        </p:spPr>
        <p:txBody>
          <a:bodyPr wrap="square" rtlCol="0">
            <a:spAutoFit/>
          </a:bodyPr>
          <a:lstStyle/>
          <a:p>
            <a:r>
              <a:rPr lang="es-CO" dirty="0">
                <a:latin typeface="Arial" panose="020B0604020202020204" pitchFamily="34" charset="0"/>
                <a:cs typeface="Arial" panose="020B0604020202020204" pitchFamily="34" charset="0"/>
              </a:rPr>
              <a:t>Nuestra dinámica de trabajo en equipo:</a:t>
            </a:r>
          </a:p>
        </p:txBody>
      </p:sp>
      <p:pic>
        <p:nvPicPr>
          <p:cNvPr id="4" name="Imagen 3">
            <a:hlinkClick r:id="rId2" action="ppaction://hlinkfile"/>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1839" y="2545806"/>
            <a:ext cx="6134868" cy="3747149"/>
          </a:xfrm>
          <a:prstGeom prst="rect">
            <a:avLst/>
          </a:prstGeom>
        </p:spPr>
      </p:pic>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0195" y="688246"/>
            <a:ext cx="1918876" cy="484945"/>
          </a:xfrm>
          <a:prstGeom prst="rect">
            <a:avLst/>
          </a:prstGeom>
        </p:spPr>
      </p:pic>
    </p:spTree>
    <p:extLst>
      <p:ext uri="{BB962C8B-B14F-4D97-AF65-F5344CB8AC3E}">
        <p14:creationId xmlns:p14="http://schemas.microsoft.com/office/powerpoint/2010/main" val="846856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765716" y="2470245"/>
            <a:ext cx="5580494" cy="2593073"/>
          </a:xfrm>
        </p:spPr>
        <p:txBody>
          <a:bodyPr>
            <a:normAutofit/>
          </a:bodyPr>
          <a:lstStyle/>
          <a:p>
            <a:r>
              <a:rPr lang="es-CO" sz="5400" b="1" dirty="0">
                <a:latin typeface="Arial" panose="020B0604020202020204" pitchFamily="34" charset="0"/>
                <a:cs typeface="Arial" panose="020B0604020202020204" pitchFamily="34" charset="0"/>
              </a:rPr>
              <a:t>SISTEMA DE GESTIÓN INTEGRADO</a:t>
            </a: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5" name="Diagrama 4"/>
          <p:cNvGraphicFramePr/>
          <p:nvPr>
            <p:extLst>
              <p:ext uri="{D42A27DB-BD31-4B8C-83A1-F6EECF244321}">
                <p14:modId xmlns:p14="http://schemas.microsoft.com/office/powerpoint/2010/main" val="2711153711"/>
              </p:ext>
            </p:extLst>
          </p:nvPr>
        </p:nvGraphicFramePr>
        <p:xfrm>
          <a:off x="4005939" y="1814907"/>
          <a:ext cx="6096000" cy="41901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uadroTexto 6"/>
          <p:cNvSpPr txBox="1"/>
          <p:nvPr/>
        </p:nvSpPr>
        <p:spPr>
          <a:xfrm>
            <a:off x="7344358" y="6101204"/>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80293" y="581054"/>
            <a:ext cx="4034331" cy="1052948"/>
          </a:xfrm>
          <a:prstGeom prst="rect">
            <a:avLst/>
          </a:prstGeom>
        </p:spPr>
      </p:pic>
    </p:spTree>
    <p:extLst>
      <p:ext uri="{BB962C8B-B14F-4D97-AF65-F5344CB8AC3E}">
        <p14:creationId xmlns:p14="http://schemas.microsoft.com/office/powerpoint/2010/main" val="2697042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Título 5"/>
          <p:cNvSpPr txBox="1">
            <a:spLocks/>
          </p:cNvSpPr>
          <p:nvPr/>
        </p:nvSpPr>
        <p:spPr>
          <a:xfrm>
            <a:off x="658519" y="566669"/>
            <a:ext cx="5793169" cy="153534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O" sz="4800" b="1" dirty="0">
                <a:latin typeface="Arial" panose="020B0604020202020204" pitchFamily="34" charset="0"/>
                <a:cs typeface="Arial" panose="020B0604020202020204" pitchFamily="34" charset="0"/>
              </a:rPr>
              <a:t>INTERACCIÓN DE LOS PROCESOS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2179" y="3083328"/>
            <a:ext cx="2162175"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CuadroTexto 1"/>
          <p:cNvSpPr txBox="1"/>
          <p:nvPr/>
        </p:nvSpPr>
        <p:spPr>
          <a:xfrm>
            <a:off x="658519" y="2509960"/>
            <a:ext cx="5073541" cy="2800767"/>
          </a:xfrm>
          <a:prstGeom prst="rect">
            <a:avLst/>
          </a:prstGeom>
          <a:noFill/>
        </p:spPr>
        <p:txBody>
          <a:bodyPr wrap="square" rtlCol="0">
            <a:spAutoFit/>
          </a:bodyPr>
          <a:lstStyle/>
          <a:p>
            <a:pPr algn="just"/>
            <a:r>
              <a:rPr lang="es-CO" sz="2200" dirty="0">
                <a:latin typeface="Arial" panose="020B0604020202020204" pitchFamily="34" charset="0"/>
                <a:cs typeface="Arial" panose="020B0604020202020204" pitchFamily="34" charset="0"/>
              </a:rPr>
              <a:t>Los clientes internos de la compañía brindas los insumos necesarios para permitir el ciclo de elaboración del producto en base a las entradas y salidas que cada proceso suministre, obteniendo así un producto final que garantice la satisfacción de una necesidad del cliente externo.  </a:t>
            </a:r>
          </a:p>
        </p:txBody>
      </p:sp>
      <p:sp>
        <p:nvSpPr>
          <p:cNvPr id="7" name="CuadroTexto 6"/>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7519" y="711243"/>
            <a:ext cx="2066826" cy="522335"/>
          </a:xfrm>
          <a:prstGeom prst="rect">
            <a:avLst/>
          </a:prstGeom>
        </p:spPr>
      </p:pic>
    </p:spTree>
    <p:extLst>
      <p:ext uri="{BB962C8B-B14F-4D97-AF65-F5344CB8AC3E}">
        <p14:creationId xmlns:p14="http://schemas.microsoft.com/office/powerpoint/2010/main" val="3731800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echa curvada hacia la derecha 8"/>
          <p:cNvSpPr/>
          <p:nvPr/>
        </p:nvSpPr>
        <p:spPr>
          <a:xfrm>
            <a:off x="357626" y="1885843"/>
            <a:ext cx="1656000" cy="4320000"/>
          </a:xfrm>
          <a:prstGeom prst="curvedRightArrow">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tx1"/>
                </a:solidFill>
                <a:latin typeface="Arial" panose="020B0604020202020204" pitchFamily="34" charset="0"/>
                <a:cs typeface="Arial" panose="020B0604020202020204" pitchFamily="34" charset="0"/>
              </a:rPr>
              <a:t>Necesidades de las partes interesadas</a:t>
            </a:r>
          </a:p>
        </p:txBody>
      </p:sp>
      <p:sp>
        <p:nvSpPr>
          <p:cNvPr id="13" name="Flecha curvada hacia la izquierda 12"/>
          <p:cNvSpPr/>
          <p:nvPr/>
        </p:nvSpPr>
        <p:spPr>
          <a:xfrm>
            <a:off x="7097547" y="1885843"/>
            <a:ext cx="1800000" cy="4320000"/>
          </a:xfrm>
          <a:prstGeom prst="curvedLeftArrow">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tx1"/>
                </a:solidFill>
                <a:latin typeface="Arial" panose="020B0604020202020204" pitchFamily="34" charset="0"/>
                <a:cs typeface="Arial" panose="020B0604020202020204" pitchFamily="34" charset="0"/>
              </a:rPr>
              <a:t>Satisfacción de las partes interesadas</a:t>
            </a:r>
          </a:p>
        </p:txBody>
      </p:sp>
      <p:sp>
        <p:nvSpPr>
          <p:cNvPr id="14" name="Rectángulo redondeado 13"/>
          <p:cNvSpPr/>
          <p:nvPr/>
        </p:nvSpPr>
        <p:spPr>
          <a:xfrm>
            <a:off x="2505504" y="925627"/>
            <a:ext cx="4212468" cy="432048"/>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s-CO" b="1" dirty="0">
                <a:latin typeface="Arial" panose="020B0604020202020204" pitchFamily="34" charset="0"/>
                <a:cs typeface="Arial" panose="020B0604020202020204" pitchFamily="34" charset="0"/>
              </a:rPr>
              <a:t>GESTIÓN GERENCIAL</a:t>
            </a:r>
          </a:p>
        </p:txBody>
      </p:sp>
      <p:graphicFrame>
        <p:nvGraphicFramePr>
          <p:cNvPr id="25" name="Gráfico 24"/>
          <p:cNvGraphicFramePr/>
          <p:nvPr>
            <p:extLst>
              <p:ext uri="{D42A27DB-BD31-4B8C-83A1-F6EECF244321}">
                <p14:modId xmlns:p14="http://schemas.microsoft.com/office/powerpoint/2010/main" val="693479213"/>
              </p:ext>
            </p:extLst>
          </p:nvPr>
        </p:nvGraphicFramePr>
        <p:xfrm>
          <a:off x="-108520" y="1121302"/>
          <a:ext cx="8424936" cy="5591797"/>
        </p:xfrm>
        <a:graphic>
          <a:graphicData uri="http://schemas.openxmlformats.org/drawingml/2006/chart">
            <c:chart xmlns:c="http://schemas.openxmlformats.org/drawingml/2006/chart" xmlns:r="http://schemas.openxmlformats.org/officeDocument/2006/relationships" r:id="rId3"/>
          </a:graphicData>
        </a:graphic>
      </p:graphicFrame>
      <p:sp>
        <p:nvSpPr>
          <p:cNvPr id="10" name="Conector 9"/>
          <p:cNvSpPr/>
          <p:nvPr/>
        </p:nvSpPr>
        <p:spPr>
          <a:xfrm>
            <a:off x="3145908" y="2809033"/>
            <a:ext cx="2959797" cy="2715991"/>
          </a:xfrm>
          <a:prstGeom prst="flowChartConnec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s-CO" b="1" dirty="0">
                <a:solidFill>
                  <a:schemeClr val="tx1"/>
                </a:solidFill>
              </a:rPr>
              <a:t>OPERACIONES</a:t>
            </a:r>
          </a:p>
          <a:p>
            <a:pPr marL="285750" indent="-285750" algn="ctr">
              <a:buFont typeface="Arial" panose="020B0604020202020204" pitchFamily="34" charset="0"/>
              <a:buChar char="•"/>
            </a:pPr>
            <a:r>
              <a:rPr lang="es-CO" b="1" dirty="0">
                <a:solidFill>
                  <a:schemeClr val="tx1"/>
                </a:solidFill>
              </a:rPr>
              <a:t>Monitoreo</a:t>
            </a:r>
          </a:p>
          <a:p>
            <a:pPr marL="285750" indent="-285750" algn="ctr">
              <a:buFont typeface="Arial" panose="020B0604020202020204" pitchFamily="34" charset="0"/>
              <a:buChar char="•"/>
            </a:pPr>
            <a:r>
              <a:rPr lang="es-CO" b="1" dirty="0">
                <a:solidFill>
                  <a:schemeClr val="tx1"/>
                </a:solidFill>
              </a:rPr>
              <a:t>Transito</a:t>
            </a:r>
          </a:p>
        </p:txBody>
      </p:sp>
      <p:sp>
        <p:nvSpPr>
          <p:cNvPr id="11" name="Rectángulo redondeado 10"/>
          <p:cNvSpPr/>
          <p:nvPr/>
        </p:nvSpPr>
        <p:spPr>
          <a:xfrm>
            <a:off x="74014" y="122831"/>
            <a:ext cx="8962258" cy="6618538"/>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8227" y="4167028"/>
            <a:ext cx="1628515" cy="944538"/>
          </a:xfrm>
          <a:prstGeom prst="rect">
            <a:avLst/>
          </a:prstGeom>
        </p:spPr>
      </p:pic>
      <p:sp>
        <p:nvSpPr>
          <p:cNvPr id="15" name="14 CuadroTexto"/>
          <p:cNvSpPr txBox="1"/>
          <p:nvPr/>
        </p:nvSpPr>
        <p:spPr>
          <a:xfrm>
            <a:off x="7476634" y="6348953"/>
            <a:ext cx="1041826" cy="261610"/>
          </a:xfrm>
          <a:prstGeom prst="rect">
            <a:avLst/>
          </a:prstGeom>
          <a:noFill/>
        </p:spPr>
        <p:txBody>
          <a:bodyPr wrap="square" rtlCol="0">
            <a:spAutoFit/>
          </a:bodyPr>
          <a:lstStyle/>
          <a:p>
            <a:r>
              <a:rPr lang="es-CO" sz="1100" b="1" dirty="0"/>
              <a:t>CSGI-DG-02</a:t>
            </a:r>
          </a:p>
        </p:txBody>
      </p:sp>
      <p:pic>
        <p:nvPicPr>
          <p:cNvPr id="2" name="Imagen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8272" y="167841"/>
            <a:ext cx="2820386" cy="712777"/>
          </a:xfrm>
          <a:prstGeom prst="rect">
            <a:avLst/>
          </a:prstGeom>
        </p:spPr>
      </p:pic>
    </p:spTree>
    <p:extLst>
      <p:ext uri="{BB962C8B-B14F-4D97-AF65-F5344CB8AC3E}">
        <p14:creationId xmlns:p14="http://schemas.microsoft.com/office/powerpoint/2010/main" val="1718109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544520" y="4589914"/>
            <a:ext cx="1440000" cy="1440000"/>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1542" y="2102015"/>
            <a:ext cx="1305222" cy="1440000"/>
          </a:xfrm>
          <a:prstGeom prst="rect">
            <a:avLst/>
          </a:prstGeom>
        </p:spPr>
      </p:pic>
      <p:pic>
        <p:nvPicPr>
          <p:cNvPr id="9" name="Imagen 8"/>
          <p:cNvPicPr>
            <a:picLocks noChangeAspect="1"/>
          </p:cNvPicPr>
          <p:nvPr/>
        </p:nvPicPr>
        <p:blipFill rotWithShape="1">
          <a:blip r:embed="rId4" cstate="print">
            <a:extLst>
              <a:ext uri="{28A0092B-C50C-407E-A947-70E740481C1C}">
                <a14:useLocalDpi xmlns:a14="http://schemas.microsoft.com/office/drawing/2010/main" val="0"/>
              </a:ext>
            </a:extLst>
          </a:blip>
          <a:srcRect l="21675"/>
          <a:stretch/>
        </p:blipFill>
        <p:spPr>
          <a:xfrm>
            <a:off x="7670042" y="3359620"/>
            <a:ext cx="1127870" cy="1440000"/>
          </a:xfrm>
          <a:prstGeom prst="rect">
            <a:avLst/>
          </a:prstGeom>
        </p:spPr>
      </p:pic>
      <p:sp>
        <p:nvSpPr>
          <p:cNvPr id="6" name="Título 5"/>
          <p:cNvSpPr>
            <a:spLocks noGrp="1"/>
          </p:cNvSpPr>
          <p:nvPr>
            <p:ph type="ctrTitle"/>
          </p:nvPr>
        </p:nvSpPr>
        <p:spPr>
          <a:xfrm>
            <a:off x="476518" y="566670"/>
            <a:ext cx="6555346" cy="1535345"/>
          </a:xfrm>
        </p:spPr>
        <p:txBody>
          <a:bodyPr>
            <a:noAutofit/>
          </a:bodyPr>
          <a:lstStyle/>
          <a:p>
            <a:r>
              <a:rPr lang="es-CO" sz="4800" dirty="0">
                <a:latin typeface="Arial" panose="020B0604020202020204" pitchFamily="34" charset="0"/>
                <a:cs typeface="Arial" panose="020B0604020202020204" pitchFamily="34" charset="0"/>
              </a:rPr>
              <a:t>¿Por qué Certificarnos?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p:nvSpPr>
        <p:spPr>
          <a:xfrm>
            <a:off x="658519" y="2509960"/>
            <a:ext cx="6063023" cy="3139321"/>
          </a:xfrm>
          <a:prstGeom prst="rect">
            <a:avLst/>
          </a:prstGeom>
          <a:noFill/>
        </p:spPr>
        <p:txBody>
          <a:bodyPr wrap="square" rtlCol="0">
            <a:spAutoFit/>
          </a:bodyPr>
          <a:lstStyle/>
          <a:p>
            <a:pPr algn="just"/>
            <a:r>
              <a:rPr lang="es-CO" sz="2200" dirty="0">
                <a:latin typeface="Arial" panose="020B0604020202020204" pitchFamily="34" charset="0"/>
                <a:cs typeface="Arial" panose="020B0604020202020204" pitchFamily="34" charset="0"/>
              </a:rPr>
              <a:t>Creemos que la integración de los temas de calidad, medio ambiente, salud y seguridad en un solo sistema, genera al interior de la compañía un motor de cambio, impulsador de la mejora.</a:t>
            </a:r>
          </a:p>
          <a:p>
            <a:pPr algn="just"/>
            <a:r>
              <a:rPr lang="es-CO" sz="2200" dirty="0">
                <a:latin typeface="Arial" panose="020B0604020202020204" pitchFamily="34" charset="0"/>
                <a:cs typeface="Arial" panose="020B0604020202020204" pitchFamily="34" charset="0"/>
              </a:rPr>
              <a:t>De esta manera logramos incrementar el valor del negocio, esencialmente al hacer las cosas mejores para nuestros clientes, de manera segura, y lo mas eficientemente posible.</a:t>
            </a:r>
          </a:p>
        </p:txBody>
      </p:sp>
      <p:sp>
        <p:nvSpPr>
          <p:cNvPr id="11" name="CuadroTexto 10"/>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3917" y="540550"/>
            <a:ext cx="2404682" cy="607719"/>
          </a:xfrm>
          <a:prstGeom prst="rect">
            <a:avLst/>
          </a:prstGeom>
        </p:spPr>
      </p:pic>
    </p:spTree>
    <p:extLst>
      <p:ext uri="{BB962C8B-B14F-4D97-AF65-F5344CB8AC3E}">
        <p14:creationId xmlns:p14="http://schemas.microsoft.com/office/powerpoint/2010/main" val="1930598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44322"/>
            <a:ext cx="6555346" cy="1535345"/>
          </a:xfrm>
        </p:spPr>
        <p:txBody>
          <a:bodyPr>
            <a:noAutofit/>
          </a:bodyPr>
          <a:lstStyle/>
          <a:p>
            <a:r>
              <a:rPr lang="es-CO" sz="4400" b="1" dirty="0"/>
              <a:t>POLITICA DE GESTIÓN INTEGRAL</a:t>
            </a:r>
            <a:endParaRPr lang="es-CO" sz="4400" dirty="0"/>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p:nvSpPr>
        <p:spPr>
          <a:xfrm>
            <a:off x="412125" y="1520403"/>
            <a:ext cx="8474298" cy="4683718"/>
          </a:xfrm>
          <a:prstGeom prst="rect">
            <a:avLst/>
          </a:prstGeom>
          <a:noFill/>
        </p:spPr>
        <p:txBody>
          <a:bodyPr wrap="square" rtlCol="0">
            <a:spAutoFit/>
          </a:bodyPr>
          <a:lstStyle/>
          <a:p>
            <a:pPr algn="just">
              <a:lnSpc>
                <a:spcPts val="1715"/>
              </a:lnSpc>
              <a:buNone/>
            </a:pP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Desde la Alta dirección en </a:t>
            </a:r>
            <a:r>
              <a:rPr lang="es-CO" sz="12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Transmeba</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S.A., estamos comprometidos con la satisfacción de los clientes,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 cuidado</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del medio ambiente</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 prevención de la contaminación</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 seguridad y salud de los trabajadores</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independientes de</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su tipo de contratación</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identificando, evaluando, valorando y controlando los peligros </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en todos los centros de trabajo que puedan afectar su integridad, previniendo lesiones y enfermedades laborales y cumpliendo con los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requisitos</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legales y reglamentarios tanto en SST, ambiental, calidad y seguridad vial. </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Además de esto </a:t>
            </a:r>
            <a:r>
              <a:rPr lang="es-CO" sz="12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Transmeba</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incorpora estrategias dentro de su sistema de gestión para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disminuir los efectos del cambio climático</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que puedan afectar la calidad, el medio ambiente y la salud de los empleados La Alta dirección también adquiere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 compromiso</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 dar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cumplimiento a las acciones y</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estrategias definidas en el PESV</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mediante actividades de promoción y prevención que permitan mitigar los riesgos y mantener las condiciones de seguridad de sus colaboradores y usuarios durante la prestación de Servicios de transporte, con el fin de disminuir la ocurrencia de accidentes viales derivados de nuestras actividades que puedan afectar a los diferentes actores de la vía.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Los desplazamientos en misión e itinere</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también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serán tenido en cuenta por parte de la organización</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para identificar sus riesgos y generar acciones desde el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PESV </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que contribuyan con la disminución a la exposición del riesgo en si.</a:t>
            </a:r>
            <a:endParaRPr lang="es-CO" sz="12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ts val="1715"/>
              </a:lnSpc>
              <a:buNone/>
            </a:pP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r>
            <a:b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 logro de los objetivos está basado en el análisis, revisión del contexto, el direccionamiento y planeación estratégica y la gestión de los riesgos y las oportunidades permitiendo la continuidad del negocio tanto para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 sistema de gestión</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como para el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Plan Estratégico de Seguridad Vial</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s-CO" sz="12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ts val="1715"/>
              </a:lnSpc>
              <a:buNone/>
            </a:pP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s-CO" sz="12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ts val="1715"/>
              </a:lnSpc>
            </a:pP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Aportamos al desarrollo y crecimiento de nuestro talento humano y la gestión adecuada de nuestro conocimiento, comprometiéndonos con </a:t>
            </a:r>
            <a:r>
              <a:rPr lang="es-CO" sz="12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 mejoramiento continuo de</a:t>
            </a:r>
            <a:r>
              <a:rPr lang="es-CO" sz="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nuestro sistema de gestión y Plan Estratégico en Seguridad Vial.</a:t>
            </a:r>
            <a:endParaRPr lang="es-CO" sz="12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ts val="1715"/>
              </a:lnSpc>
            </a:pPr>
            <a:endParaRPr lang="es-CO" sz="2000" dirty="0"/>
          </a:p>
        </p:txBody>
      </p:sp>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6433" y="558063"/>
            <a:ext cx="1968486" cy="497482"/>
          </a:xfrm>
          <a:prstGeom prst="rect">
            <a:avLst/>
          </a:prstGeom>
        </p:spPr>
      </p:pic>
    </p:spTree>
    <p:extLst>
      <p:ext uri="{BB962C8B-B14F-4D97-AF65-F5344CB8AC3E}">
        <p14:creationId xmlns:p14="http://schemas.microsoft.com/office/powerpoint/2010/main" val="3346053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325596" y="-149669"/>
            <a:ext cx="6555346" cy="1535345"/>
          </a:xfrm>
        </p:spPr>
        <p:txBody>
          <a:bodyPr>
            <a:noAutofit/>
          </a:bodyPr>
          <a:lstStyle/>
          <a:p>
            <a:r>
              <a:rPr lang="es-CO" sz="4800" dirty="0">
                <a:latin typeface="Arial" panose="020B0604020202020204" pitchFamily="34" charset="0"/>
                <a:cs typeface="Arial" panose="020B0604020202020204" pitchFamily="34" charset="0"/>
              </a:rPr>
              <a:t>Nuestros Pilares: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p:nvSpPr>
        <p:spPr>
          <a:xfrm>
            <a:off x="783977" y="1805801"/>
            <a:ext cx="7730592" cy="2308324"/>
          </a:xfrm>
          <a:prstGeom prst="rect">
            <a:avLst/>
          </a:prstGeom>
          <a:noFill/>
        </p:spPr>
        <p:txBody>
          <a:bodyPr wrap="square" rtlCol="0">
            <a:spAutoFit/>
          </a:bodyPr>
          <a:lstStyle/>
          <a:p>
            <a:endParaRPr lang="es-CO" dirty="0">
              <a:latin typeface="Arial" panose="020B0604020202020204" pitchFamily="34" charset="0"/>
              <a:cs typeface="Arial" panose="020B0604020202020204" pitchFamily="34" charset="0"/>
            </a:endParaRPr>
          </a:p>
          <a:p>
            <a:r>
              <a:rPr lang="es-CO" dirty="0">
                <a:latin typeface="Arial" panose="020B0604020202020204" pitchFamily="34" charset="0"/>
                <a:cs typeface="Arial" panose="020B0604020202020204" pitchFamily="34" charset="0"/>
              </a:rPr>
              <a:t/>
            </a:r>
            <a:br>
              <a:rPr lang="es-CO" dirty="0">
                <a:latin typeface="Arial" panose="020B0604020202020204" pitchFamily="34" charset="0"/>
                <a:cs typeface="Arial" panose="020B0604020202020204" pitchFamily="34" charset="0"/>
              </a:rPr>
            </a:br>
            <a:r>
              <a:rPr lang="es-CO" b="1" cap="all" dirty="0">
                <a:latin typeface="Arial" panose="020B0604020202020204" pitchFamily="34" charset="0"/>
                <a:cs typeface="Arial" panose="020B0604020202020204" pitchFamily="34" charset="0"/>
              </a:rPr>
              <a:t>GESTIÓN DE LA CALIDAD</a:t>
            </a:r>
            <a:endParaRPr lang="es-CO" dirty="0">
              <a:latin typeface="Arial" panose="020B0604020202020204" pitchFamily="34" charset="0"/>
              <a:cs typeface="Arial" panose="020B0604020202020204" pitchFamily="34" charset="0"/>
            </a:endParaRPr>
          </a:p>
          <a:p>
            <a:endParaRPr lang="es-CO" b="1" cap="all" dirty="0">
              <a:latin typeface="Arial" panose="020B0604020202020204" pitchFamily="34" charset="0"/>
              <a:cs typeface="Arial" panose="020B0604020202020204" pitchFamily="34" charset="0"/>
            </a:endParaRPr>
          </a:p>
          <a:p>
            <a:r>
              <a:rPr lang="es-CO" dirty="0"/>
              <a:t>Trabajamos con base a  la planeación, desarrollo, seguimiento y mejora permanente de nuestros procesos.</a:t>
            </a:r>
            <a:br>
              <a:rPr lang="es-CO" dirty="0"/>
            </a:br>
            <a:r>
              <a:rPr lang="es-CO" b="1" cap="all" dirty="0">
                <a:latin typeface="Arial" panose="020B0604020202020204" pitchFamily="34" charset="0"/>
                <a:cs typeface="Arial" panose="020B0604020202020204" pitchFamily="34" charset="0"/>
              </a:rPr>
              <a:t/>
            </a:r>
            <a:br>
              <a:rPr lang="es-CO" b="1" cap="all" dirty="0">
                <a:latin typeface="Arial" panose="020B0604020202020204" pitchFamily="34" charset="0"/>
                <a:cs typeface="Arial" panose="020B0604020202020204" pitchFamily="34" charset="0"/>
              </a:rPr>
            </a:br>
            <a:endParaRPr lang="es-CO"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rotWithShape="1">
          <a:blip r:embed="rId2">
            <a:extLst>
              <a:ext uri="{28A0092B-C50C-407E-A947-70E740481C1C}">
                <a14:useLocalDpi xmlns:a14="http://schemas.microsoft.com/office/drawing/2010/main" val="0"/>
              </a:ext>
            </a:extLst>
          </a:blip>
          <a:srcRect l="6048" t="21955" r="7054" b="14428"/>
          <a:stretch/>
        </p:blipFill>
        <p:spPr>
          <a:xfrm>
            <a:off x="2804615" y="3997540"/>
            <a:ext cx="3534770" cy="1733266"/>
          </a:xfrm>
          <a:prstGeom prst="rect">
            <a:avLst/>
          </a:prstGeom>
        </p:spPr>
      </p:pic>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9504" y="571772"/>
            <a:ext cx="1915065" cy="483981"/>
          </a:xfrm>
          <a:prstGeom prst="rect">
            <a:avLst/>
          </a:prstGeom>
        </p:spPr>
      </p:pic>
    </p:spTree>
    <p:extLst>
      <p:ext uri="{BB962C8B-B14F-4D97-AF65-F5344CB8AC3E}">
        <p14:creationId xmlns:p14="http://schemas.microsoft.com/office/powerpoint/2010/main" val="1889981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325596" y="-149669"/>
            <a:ext cx="6555346" cy="1535345"/>
          </a:xfrm>
        </p:spPr>
        <p:txBody>
          <a:bodyPr>
            <a:noAutofit/>
          </a:bodyPr>
          <a:lstStyle/>
          <a:p>
            <a:r>
              <a:rPr lang="es-CO" sz="4800" dirty="0">
                <a:latin typeface="Arial" panose="020B0604020202020204" pitchFamily="34" charset="0"/>
                <a:cs typeface="Arial" panose="020B0604020202020204" pitchFamily="34" charset="0"/>
              </a:rPr>
              <a:t>Nuestros Pilares: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p:nvSpPr>
        <p:spPr>
          <a:xfrm>
            <a:off x="3603269" y="1757443"/>
            <a:ext cx="4919453" cy="2862322"/>
          </a:xfrm>
          <a:prstGeom prst="rect">
            <a:avLst/>
          </a:prstGeom>
          <a:noFill/>
        </p:spPr>
        <p:txBody>
          <a:bodyPr wrap="square" rtlCol="0">
            <a:spAutoFit/>
          </a:bodyPr>
          <a:lstStyle/>
          <a:p>
            <a:r>
              <a:rPr lang="es-CO" b="1" cap="all" dirty="0">
                <a:latin typeface="Arial" panose="020B0604020202020204" pitchFamily="34" charset="0"/>
                <a:cs typeface="Arial" panose="020B0604020202020204" pitchFamily="34" charset="0"/>
              </a:rPr>
              <a:t>GESTIÓN SEGURIDAD Y SALUD EN EL TRABAJO</a:t>
            </a:r>
            <a:endParaRPr lang="es-CO" dirty="0">
              <a:latin typeface="Arial" panose="020B0604020202020204" pitchFamily="34" charset="0"/>
              <a:cs typeface="Arial" panose="020B0604020202020204" pitchFamily="34" charset="0"/>
            </a:endParaRPr>
          </a:p>
          <a:p>
            <a:r>
              <a:rPr lang="es-CO" b="1" cap="all" dirty="0">
                <a:latin typeface="Arial" panose="020B0604020202020204" pitchFamily="34" charset="0"/>
                <a:cs typeface="Arial" panose="020B0604020202020204" pitchFamily="34" charset="0"/>
              </a:rPr>
              <a:t> </a:t>
            </a:r>
          </a:p>
          <a:p>
            <a:r>
              <a:rPr lang="es-CO" dirty="0"/>
              <a:t>Trabajamos en la  prevención de accidentes, enfermedades laborales, emergencias e incidentes y realizamos con nuestros empleados actividades de promoción de estilos de vida saludable y prevención del tabaquismo, alcoholismo y farmacodependencia </a:t>
            </a:r>
          </a:p>
          <a:p>
            <a:endParaRPr lang="es-CO" b="1" cap="all"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31380" y="3145059"/>
            <a:ext cx="2637309" cy="2101606"/>
          </a:xfrm>
          <a:prstGeom prst="rect">
            <a:avLst/>
          </a:prstGeom>
        </p:spPr>
      </p:pic>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4151" y="445475"/>
            <a:ext cx="1914294" cy="483786"/>
          </a:xfrm>
          <a:prstGeom prst="rect">
            <a:avLst/>
          </a:prstGeom>
        </p:spPr>
      </p:pic>
    </p:spTree>
    <p:extLst>
      <p:ext uri="{BB962C8B-B14F-4D97-AF65-F5344CB8AC3E}">
        <p14:creationId xmlns:p14="http://schemas.microsoft.com/office/powerpoint/2010/main" val="929450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325596" y="-149669"/>
            <a:ext cx="6555346" cy="1535345"/>
          </a:xfrm>
        </p:spPr>
        <p:txBody>
          <a:bodyPr>
            <a:noAutofit/>
          </a:bodyPr>
          <a:lstStyle/>
          <a:p>
            <a:r>
              <a:rPr lang="es-CO" sz="4800" dirty="0">
                <a:latin typeface="Arial" panose="020B0604020202020204" pitchFamily="34" charset="0"/>
                <a:cs typeface="Arial" panose="020B0604020202020204" pitchFamily="34" charset="0"/>
              </a:rPr>
              <a:t>Nuestros Pilares: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p:cNvSpPr txBox="1"/>
          <p:nvPr/>
        </p:nvSpPr>
        <p:spPr>
          <a:xfrm>
            <a:off x="641315" y="2539350"/>
            <a:ext cx="3774375" cy="2862322"/>
          </a:xfrm>
          <a:prstGeom prst="rect">
            <a:avLst/>
          </a:prstGeom>
          <a:noFill/>
        </p:spPr>
        <p:txBody>
          <a:bodyPr wrap="square" rtlCol="0">
            <a:spAutoFit/>
          </a:bodyPr>
          <a:lstStyle/>
          <a:p>
            <a:pPr algn="just"/>
            <a:r>
              <a:rPr lang="es-CO" b="1" cap="all" dirty="0">
                <a:latin typeface="Arial" panose="020B0604020202020204" pitchFamily="34" charset="0"/>
                <a:cs typeface="Arial" panose="020B0604020202020204" pitchFamily="34" charset="0"/>
              </a:rPr>
              <a:t>GESTIÓN AMBIENTAL</a:t>
            </a:r>
          </a:p>
          <a:p>
            <a:pPr algn="just"/>
            <a:endParaRPr lang="es-CO" b="1" cap="all" dirty="0">
              <a:latin typeface="Arial" panose="020B0604020202020204" pitchFamily="34" charset="0"/>
              <a:cs typeface="Arial" panose="020B0604020202020204" pitchFamily="34" charset="0"/>
            </a:endParaRPr>
          </a:p>
          <a:p>
            <a:pPr algn="just"/>
            <a:r>
              <a:rPr lang="es-CO" dirty="0"/>
              <a:t>Trabajamos con respeto por el desarrollo sostenible del medio ambiente. Implementamos prácticas de buen uso de los recursos naturales, en donde desarrollamos actividades enfocadas a mitigar el impacto generado por nuestra operación.</a:t>
            </a:r>
          </a:p>
          <a:p>
            <a:pPr algn="just"/>
            <a:endParaRPr lang="es-CO" b="1" cap="all"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4880" y="2701304"/>
            <a:ext cx="3956287" cy="2179311"/>
          </a:xfrm>
          <a:prstGeom prst="rect">
            <a:avLst/>
          </a:prstGeom>
        </p:spPr>
      </p:pic>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3023" y="564573"/>
            <a:ext cx="1828087" cy="462000"/>
          </a:xfrm>
          <a:prstGeom prst="rect">
            <a:avLst/>
          </a:prstGeom>
        </p:spPr>
      </p:pic>
    </p:spTree>
    <p:extLst>
      <p:ext uri="{BB962C8B-B14F-4D97-AF65-F5344CB8AC3E}">
        <p14:creationId xmlns:p14="http://schemas.microsoft.com/office/powerpoint/2010/main" val="1205878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1059154" y="278695"/>
            <a:ext cx="5287378" cy="821103"/>
          </a:xfrm>
        </p:spPr>
        <p:txBody>
          <a:bodyPr>
            <a:noAutofit/>
          </a:bodyPr>
          <a:lstStyle/>
          <a:p>
            <a:r>
              <a:rPr lang="es-CO" sz="4000" dirty="0">
                <a:latin typeface="Arial" panose="020B0604020202020204" pitchFamily="34" charset="0"/>
                <a:cs typeface="Arial" panose="020B0604020202020204" pitchFamily="34" charset="0"/>
              </a:rPr>
              <a:t>Objetivos del SGI:</a:t>
            </a:r>
            <a:endParaRPr lang="es-CO" sz="40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3023" y="564573"/>
            <a:ext cx="1828087" cy="462000"/>
          </a:xfrm>
          <a:prstGeom prst="rect">
            <a:avLst/>
          </a:prstGeom>
        </p:spPr>
      </p:pic>
      <p:graphicFrame>
        <p:nvGraphicFramePr>
          <p:cNvPr id="2" name="Tabla 1">
            <a:extLst>
              <a:ext uri="{FF2B5EF4-FFF2-40B4-BE49-F238E27FC236}">
                <a16:creationId xmlns:a16="http://schemas.microsoft.com/office/drawing/2014/main" id="{8EAC6483-63C6-E338-32D5-1935EAA2FFDD}"/>
              </a:ext>
            </a:extLst>
          </p:cNvPr>
          <p:cNvGraphicFramePr>
            <a:graphicFrameLocks noGrp="1"/>
          </p:cNvGraphicFramePr>
          <p:nvPr>
            <p:extLst>
              <p:ext uri="{D42A27DB-BD31-4B8C-83A1-F6EECF244321}">
                <p14:modId xmlns:p14="http://schemas.microsoft.com/office/powerpoint/2010/main" val="3009045928"/>
              </p:ext>
            </p:extLst>
          </p:nvPr>
        </p:nvGraphicFramePr>
        <p:xfrm>
          <a:off x="887104" y="1099798"/>
          <a:ext cx="7281959" cy="4923168"/>
        </p:xfrm>
        <a:graphic>
          <a:graphicData uri="http://schemas.openxmlformats.org/drawingml/2006/table">
            <a:tbl>
              <a:tblPr firstRow="1" firstCol="1" bandRow="1">
                <a:tableStyleId>{F5AB1C69-6EDB-4FF4-983F-18BD219EF322}</a:tableStyleId>
              </a:tblPr>
              <a:tblGrid>
                <a:gridCol w="4020249">
                  <a:extLst>
                    <a:ext uri="{9D8B030D-6E8A-4147-A177-3AD203B41FA5}">
                      <a16:colId xmlns:a16="http://schemas.microsoft.com/office/drawing/2014/main" val="2624192964"/>
                    </a:ext>
                  </a:extLst>
                </a:gridCol>
                <a:gridCol w="910245">
                  <a:extLst>
                    <a:ext uri="{9D8B030D-6E8A-4147-A177-3AD203B41FA5}">
                      <a16:colId xmlns:a16="http://schemas.microsoft.com/office/drawing/2014/main" val="1250841226"/>
                    </a:ext>
                  </a:extLst>
                </a:gridCol>
                <a:gridCol w="910245">
                  <a:extLst>
                    <a:ext uri="{9D8B030D-6E8A-4147-A177-3AD203B41FA5}">
                      <a16:colId xmlns:a16="http://schemas.microsoft.com/office/drawing/2014/main" val="927020355"/>
                    </a:ext>
                  </a:extLst>
                </a:gridCol>
                <a:gridCol w="652341">
                  <a:extLst>
                    <a:ext uri="{9D8B030D-6E8A-4147-A177-3AD203B41FA5}">
                      <a16:colId xmlns:a16="http://schemas.microsoft.com/office/drawing/2014/main" val="3769040701"/>
                    </a:ext>
                  </a:extLst>
                </a:gridCol>
                <a:gridCol w="788879">
                  <a:extLst>
                    <a:ext uri="{9D8B030D-6E8A-4147-A177-3AD203B41FA5}">
                      <a16:colId xmlns:a16="http://schemas.microsoft.com/office/drawing/2014/main" val="3290170511"/>
                    </a:ext>
                  </a:extLst>
                </a:gridCol>
              </a:tblGrid>
              <a:tr h="233039">
                <a:tc>
                  <a:txBody>
                    <a:bodyPr/>
                    <a:lstStyle/>
                    <a:p>
                      <a:pPr algn="ctr">
                        <a:buNone/>
                      </a:pPr>
                      <a:r>
                        <a:rPr lang="es-CO" sz="1100" dirty="0">
                          <a:effectLst/>
                        </a:rPr>
                        <a:t>OBJETIVO </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1100" dirty="0">
                          <a:effectLst/>
                        </a:rPr>
                        <a:t>CALIDAD</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1100" dirty="0">
                          <a:effectLst/>
                        </a:rPr>
                        <a:t>AMBIENTAL</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1100" dirty="0">
                          <a:effectLst/>
                        </a:rPr>
                        <a:t>SST</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1100" dirty="0">
                          <a:effectLst/>
                        </a:rPr>
                        <a:t>PESV</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2813465926"/>
                  </a:ext>
                </a:extLst>
              </a:tr>
              <a:tr h="451089">
                <a:tc>
                  <a:txBody>
                    <a:bodyPr/>
                    <a:lstStyle/>
                    <a:p>
                      <a:pPr algn="l">
                        <a:buNone/>
                      </a:pPr>
                      <a:r>
                        <a:rPr lang="es-CO" sz="1100" dirty="0">
                          <a:effectLst/>
                        </a:rPr>
                        <a:t>Prestar un servicio de transporte cómodo, eficiente y seguro que satisfaga las necesidades </a:t>
                      </a:r>
                      <a:br>
                        <a:rPr lang="es-CO" sz="1100" dirty="0">
                          <a:effectLst/>
                        </a:rPr>
                      </a:br>
                      <a:r>
                        <a:rPr lang="es-CO" sz="1100" dirty="0">
                          <a:effectLst/>
                        </a:rPr>
                        <a:t>de nuestros clientes</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2221168849"/>
                  </a:ext>
                </a:extLst>
              </a:tr>
              <a:tr h="410467">
                <a:tc>
                  <a:txBody>
                    <a:bodyPr/>
                    <a:lstStyle/>
                    <a:p>
                      <a:pPr algn="l">
                        <a:buNone/>
                      </a:pPr>
                      <a:r>
                        <a:rPr lang="es-CO" sz="1100" dirty="0">
                          <a:effectLst/>
                        </a:rPr>
                        <a:t>Realizar seguimiento al cumplimiento de las normas de tránsito y a los accidentes que se presentan en los vehículos </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271503721"/>
                  </a:ext>
                </a:extLst>
              </a:tr>
              <a:tr h="300726">
                <a:tc>
                  <a:txBody>
                    <a:bodyPr/>
                    <a:lstStyle/>
                    <a:p>
                      <a:pPr algn="l">
                        <a:buNone/>
                      </a:pPr>
                      <a:r>
                        <a:rPr lang="es-CO" sz="1100" dirty="0">
                          <a:effectLst/>
                        </a:rPr>
                        <a:t>Fortalecer e Incentivar las competencias y desempeño de nuestro capital humano</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23452327"/>
                  </a:ext>
                </a:extLst>
              </a:tr>
              <a:tr h="300726">
                <a:tc>
                  <a:txBody>
                    <a:bodyPr/>
                    <a:lstStyle/>
                    <a:p>
                      <a:pPr algn="l">
                        <a:buNone/>
                      </a:pPr>
                      <a:r>
                        <a:rPr lang="es-CO" sz="1100" dirty="0">
                          <a:effectLst/>
                        </a:rPr>
                        <a:t>Garantizar la vinculación de persona idóneo de acuerdo a los perfiles del cargo </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913792036"/>
                  </a:ext>
                </a:extLst>
              </a:tr>
              <a:tr h="300726">
                <a:tc>
                  <a:txBody>
                    <a:bodyPr/>
                    <a:lstStyle/>
                    <a:p>
                      <a:pPr algn="l">
                        <a:buNone/>
                      </a:pPr>
                      <a:r>
                        <a:rPr lang="es-CO" sz="1100" dirty="0">
                          <a:effectLst/>
                        </a:rPr>
                        <a:t>Proteger el medio ambiente optimizando el uso de los recursos y controlando los aspectos generados</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dirty="0">
                          <a:effectLst/>
                        </a:rPr>
                        <a:t> </a:t>
                      </a:r>
                      <a:endParaRPr lang="es-CO" sz="8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849010835"/>
                  </a:ext>
                </a:extLst>
              </a:tr>
              <a:tr h="150363">
                <a:tc>
                  <a:txBody>
                    <a:bodyPr/>
                    <a:lstStyle/>
                    <a:p>
                      <a:pPr algn="l">
                        <a:buNone/>
                      </a:pPr>
                      <a:r>
                        <a:rPr lang="es-CO" sz="1100">
                          <a:effectLst/>
                        </a:rPr>
                        <a:t>Lograr el crecimiento y sostenibilidad de la empresa</a:t>
                      </a:r>
                      <a:endParaRPr lang="es-CO" sz="11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888882977"/>
                  </a:ext>
                </a:extLst>
              </a:tr>
              <a:tr h="451089">
                <a:tc>
                  <a:txBody>
                    <a:bodyPr/>
                    <a:lstStyle/>
                    <a:p>
                      <a:pPr algn="l">
                        <a:buNone/>
                      </a:pPr>
                      <a:r>
                        <a:rPr lang="es-CO" sz="1100" dirty="0">
                          <a:effectLst/>
                        </a:rPr>
                        <a:t>Garantizar el buen desarrollo de la actividad propia del negocio, mediante la evaluación de las diferentes metas y objetivos propuestos desde la gerencia</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252458372"/>
                  </a:ext>
                </a:extLst>
              </a:tr>
              <a:tr h="150363">
                <a:tc>
                  <a:txBody>
                    <a:bodyPr/>
                    <a:lstStyle/>
                    <a:p>
                      <a:pPr algn="l">
                        <a:buNone/>
                      </a:pPr>
                      <a:r>
                        <a:rPr lang="es-CO" sz="1100" dirty="0">
                          <a:effectLst/>
                        </a:rPr>
                        <a:t>Propiciar la mejora continua </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04103021"/>
                  </a:ext>
                </a:extLst>
              </a:tr>
              <a:tr h="150363">
                <a:tc>
                  <a:txBody>
                    <a:bodyPr/>
                    <a:lstStyle/>
                    <a:p>
                      <a:pPr algn="l">
                        <a:buNone/>
                      </a:pPr>
                      <a:r>
                        <a:rPr lang="es-CO" sz="1100">
                          <a:effectLst/>
                        </a:rPr>
                        <a:t>Fomentar el cumplimiento de los requisitos legales</a:t>
                      </a:r>
                      <a:endParaRPr lang="es-CO" sz="11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804042659"/>
                  </a:ext>
                </a:extLst>
              </a:tr>
              <a:tr h="397227">
                <a:tc>
                  <a:txBody>
                    <a:bodyPr/>
                    <a:lstStyle/>
                    <a:p>
                      <a:pPr algn="l">
                        <a:buNone/>
                      </a:pPr>
                      <a:r>
                        <a:rPr lang="es-CO" sz="1100" dirty="0">
                          <a:effectLst/>
                        </a:rPr>
                        <a:t>Garantizar el cumplimiento de los programas de mantenimiento preventivo y correctivo en los vehículos</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2104776515"/>
                  </a:ext>
                </a:extLst>
              </a:tr>
              <a:tr h="529635">
                <a:tc>
                  <a:txBody>
                    <a:bodyPr/>
                    <a:lstStyle/>
                    <a:p>
                      <a:pPr algn="l">
                        <a:buNone/>
                      </a:pPr>
                      <a:r>
                        <a:rPr lang="es-CO" sz="1100" dirty="0">
                          <a:effectLst/>
                        </a:rPr>
                        <a:t>Promover lugares y actividades enfocadas en el trabajo seguro, saludable y armónico, que reduzcan la accidentalidad y prevengan las lesiones y enfermedades laborales y de seguridad vial</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b"/>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168851553"/>
                  </a:ext>
                </a:extLst>
              </a:tr>
              <a:tr h="794452">
                <a:tc>
                  <a:txBody>
                    <a:bodyPr/>
                    <a:lstStyle/>
                    <a:p>
                      <a:pPr algn="l">
                        <a:buNone/>
                      </a:pPr>
                      <a:r>
                        <a:rPr lang="es-CO" sz="1100" dirty="0">
                          <a:effectLst/>
                        </a:rPr>
                        <a:t>Cumplir con los parámetros establecidos por la alta dirección frente a la adquisición de productos, servicios y procesos con proveedores y contratistas que cumplan con las especificaciones requeridas minimizando riesgos y garantizando el cumplimento de requisitos de </a:t>
                      </a:r>
                      <a:r>
                        <a:rPr lang="es-CO" sz="1100" dirty="0" err="1">
                          <a:effectLst/>
                        </a:rPr>
                        <a:t>sst</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X</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a:effectLst/>
                        </a:rPr>
                        <a:t> </a:t>
                      </a:r>
                      <a:endParaRPr lang="es-CO" sz="80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tc>
                  <a:txBody>
                    <a:bodyPr/>
                    <a:lstStyle/>
                    <a:p>
                      <a:pPr algn="ctr">
                        <a:buNone/>
                      </a:pPr>
                      <a:r>
                        <a:rPr lang="es-CO" sz="800" dirty="0">
                          <a:effectLst/>
                        </a:rPr>
                        <a:t> </a:t>
                      </a:r>
                      <a:endParaRPr lang="es-CO" sz="8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0898" marR="30898" marT="0" marB="0" anchor="ctr"/>
                </a:tc>
                <a:extLst>
                  <a:ext uri="{0D108BD9-81ED-4DB2-BD59-A6C34878D82A}">
                    <a16:rowId xmlns:a16="http://schemas.microsoft.com/office/drawing/2014/main" val="3982258534"/>
                  </a:ext>
                </a:extLst>
              </a:tr>
            </a:tbl>
          </a:graphicData>
        </a:graphic>
      </p:graphicFrame>
    </p:spTree>
    <p:extLst>
      <p:ext uri="{BB962C8B-B14F-4D97-AF65-F5344CB8AC3E}">
        <p14:creationId xmlns:p14="http://schemas.microsoft.com/office/powerpoint/2010/main" val="1545382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58462"/>
            <a:ext cx="6555346" cy="1535345"/>
          </a:xfrm>
        </p:spPr>
        <p:txBody>
          <a:bodyPr>
            <a:noAutofit/>
          </a:bodyPr>
          <a:lstStyle/>
          <a:p>
            <a:r>
              <a:rPr lang="es-CO" sz="4800" dirty="0">
                <a:latin typeface="Arial" panose="020B0604020202020204" pitchFamily="34" charset="0"/>
                <a:cs typeface="Arial" panose="020B0604020202020204" pitchFamily="34" charset="0"/>
              </a:rPr>
              <a:t>Impactos Ambientales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4" name="Tabla 3"/>
          <p:cNvGraphicFramePr>
            <a:graphicFrameLocks noGrp="1"/>
          </p:cNvGraphicFramePr>
          <p:nvPr>
            <p:extLst>
              <p:ext uri="{D42A27DB-BD31-4B8C-83A1-F6EECF244321}">
                <p14:modId xmlns:p14="http://schemas.microsoft.com/office/powerpoint/2010/main" val="1827234849"/>
              </p:ext>
            </p:extLst>
          </p:nvPr>
        </p:nvGraphicFramePr>
        <p:xfrm>
          <a:off x="654868" y="2306453"/>
          <a:ext cx="7988810" cy="2773680"/>
        </p:xfrm>
        <a:graphic>
          <a:graphicData uri="http://schemas.openxmlformats.org/drawingml/2006/table">
            <a:tbl>
              <a:tblPr>
                <a:tableStyleId>{D7AC3CCA-C797-4891-BE02-D94E43425B78}</a:tableStyleId>
              </a:tblPr>
              <a:tblGrid>
                <a:gridCol w="4147610">
                  <a:extLst>
                    <a:ext uri="{9D8B030D-6E8A-4147-A177-3AD203B41FA5}">
                      <a16:colId xmlns:a16="http://schemas.microsoft.com/office/drawing/2014/main" val="20000"/>
                    </a:ext>
                  </a:extLst>
                </a:gridCol>
                <a:gridCol w="3841200">
                  <a:extLst>
                    <a:ext uri="{9D8B030D-6E8A-4147-A177-3AD203B41FA5}">
                      <a16:colId xmlns:a16="http://schemas.microsoft.com/office/drawing/2014/main" val="20001"/>
                    </a:ext>
                  </a:extLst>
                </a:gridCol>
              </a:tblGrid>
              <a:tr h="95491">
                <a:tc>
                  <a:txBody>
                    <a:bodyPr/>
                    <a:lstStyle/>
                    <a:p>
                      <a:pPr algn="ctr" fontAlgn="ctr"/>
                      <a:r>
                        <a:rPr lang="es-CO" sz="1400" u="none" strike="noStrike" dirty="0">
                          <a:solidFill>
                            <a:schemeClr val="bg1"/>
                          </a:solidFill>
                          <a:effectLst/>
                          <a:latin typeface="Arial" pitchFamily="34" charset="0"/>
                          <a:cs typeface="Arial" pitchFamily="34" charset="0"/>
                        </a:rPr>
                        <a:t>Aspecto ambiental</a:t>
                      </a:r>
                      <a:endParaRPr lang="es-CO" sz="1400" b="1" i="0" u="none" strike="noStrike" dirty="0">
                        <a:solidFill>
                          <a:schemeClr val="bg1"/>
                        </a:solidFill>
                        <a:effectLst/>
                        <a:latin typeface="Arial" panose="020B0604020202020204" pitchFamily="34" charset="0"/>
                        <a:cs typeface="Arial" pitchFamily="34" charset="0"/>
                      </a:endParaRPr>
                    </a:p>
                  </a:txBody>
                  <a:tcPr marL="0" marR="0" marT="0" marB="0" anchor="ctr">
                    <a:solidFill>
                      <a:schemeClr val="tx1"/>
                    </a:solidFill>
                  </a:tcPr>
                </a:tc>
                <a:tc>
                  <a:txBody>
                    <a:bodyPr/>
                    <a:lstStyle/>
                    <a:p>
                      <a:pPr algn="ctr" fontAlgn="ctr"/>
                      <a:r>
                        <a:rPr lang="es-CO" sz="1400" u="none" strike="noStrike" dirty="0">
                          <a:solidFill>
                            <a:schemeClr val="bg1"/>
                          </a:solidFill>
                          <a:effectLst/>
                          <a:latin typeface="Arial" pitchFamily="34" charset="0"/>
                          <a:cs typeface="Arial" pitchFamily="34" charset="0"/>
                        </a:rPr>
                        <a:t>Impacto Ambiental</a:t>
                      </a:r>
                      <a:endParaRPr lang="es-CO" sz="1400" b="1" i="0" u="none" strike="noStrike" dirty="0">
                        <a:solidFill>
                          <a:schemeClr val="bg1"/>
                        </a:solidFill>
                        <a:effectLst/>
                        <a:latin typeface="Arial" panose="020B0604020202020204" pitchFamily="34" charset="0"/>
                        <a:cs typeface="Arial" pitchFamily="34" charset="0"/>
                      </a:endParaRPr>
                    </a:p>
                  </a:txBody>
                  <a:tcPr marL="0" marR="0" marT="0" marB="0" anchor="ctr">
                    <a:solidFill>
                      <a:schemeClr val="tx1"/>
                    </a:solidFill>
                  </a:tcPr>
                </a:tc>
                <a:extLst>
                  <a:ext uri="{0D108BD9-81ED-4DB2-BD59-A6C34878D82A}">
                    <a16:rowId xmlns:a16="http://schemas.microsoft.com/office/drawing/2014/main" val="10000"/>
                  </a:ext>
                </a:extLst>
              </a:tr>
              <a:tr h="102001">
                <a:tc>
                  <a:txBody>
                    <a:bodyPr/>
                    <a:lstStyle/>
                    <a:p>
                      <a:pPr algn="l" fontAlgn="ctr"/>
                      <a:r>
                        <a:rPr lang="es-CO" sz="1400" u="none" strike="noStrike" dirty="0">
                          <a:effectLst/>
                          <a:latin typeface="Arial" pitchFamily="34" charset="0"/>
                          <a:cs typeface="Arial" pitchFamily="34" charset="0"/>
                        </a:rPr>
                        <a:t>Consumo de combustibles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tc>
                  <a:txBody>
                    <a:bodyPr/>
                    <a:lstStyle/>
                    <a:p>
                      <a:pPr algn="l" fontAlgn="ctr"/>
                      <a:r>
                        <a:rPr lang="es-CO" sz="1400" u="none" strike="noStrike" dirty="0">
                          <a:effectLst/>
                          <a:latin typeface="Arial" pitchFamily="34" charset="0"/>
                          <a:cs typeface="Arial" pitchFamily="34" charset="0"/>
                        </a:rPr>
                        <a:t>Agotamiento de los recursos naturales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1"/>
                  </a:ext>
                </a:extLst>
              </a:tr>
              <a:tr h="102001">
                <a:tc>
                  <a:txBody>
                    <a:bodyPr/>
                    <a:lstStyle/>
                    <a:p>
                      <a:pPr algn="l" fontAlgn="b"/>
                      <a:r>
                        <a:rPr lang="es-CO" sz="1400" u="none" strike="noStrike" dirty="0">
                          <a:effectLst/>
                          <a:latin typeface="Arial" pitchFamily="34" charset="0"/>
                          <a:cs typeface="Arial" pitchFamily="34" charset="0"/>
                        </a:rPr>
                        <a:t>Consumo de agua</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Agotamiento de los recursos naturales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02"/>
                  </a:ext>
                </a:extLst>
              </a:tr>
              <a:tr h="102001">
                <a:tc>
                  <a:txBody>
                    <a:bodyPr/>
                    <a:lstStyle/>
                    <a:p>
                      <a:pPr algn="l" fontAlgn="b"/>
                      <a:r>
                        <a:rPr lang="es-CO" sz="1400" u="none" strike="noStrike" dirty="0">
                          <a:effectLst/>
                          <a:latin typeface="Arial" pitchFamily="34" charset="0"/>
                          <a:cs typeface="Arial" pitchFamily="34" charset="0"/>
                        </a:rPr>
                        <a:t>Generación de ruido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Contaminación del aire</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03"/>
                  </a:ext>
                </a:extLst>
              </a:tr>
              <a:tr h="102001">
                <a:tc>
                  <a:txBody>
                    <a:bodyPr/>
                    <a:lstStyle/>
                    <a:p>
                      <a:pPr algn="l" fontAlgn="b"/>
                      <a:r>
                        <a:rPr lang="es-CO" sz="1400" u="none" strike="noStrike" dirty="0">
                          <a:effectLst/>
                          <a:latin typeface="Arial" pitchFamily="34" charset="0"/>
                          <a:cs typeface="Arial" pitchFamily="34" charset="0"/>
                        </a:rPr>
                        <a:t>Consumo de materiales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Agotamiento de los diferentes recursos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04"/>
                  </a:ext>
                </a:extLst>
              </a:tr>
              <a:tr h="102001">
                <a:tc>
                  <a:txBody>
                    <a:bodyPr/>
                    <a:lstStyle/>
                    <a:p>
                      <a:pPr algn="just" fontAlgn="ctr"/>
                      <a:r>
                        <a:rPr lang="es-CO" sz="1400" u="none" strike="noStrike" dirty="0">
                          <a:effectLst/>
                          <a:latin typeface="Arial" pitchFamily="34" charset="0"/>
                          <a:cs typeface="Arial" pitchFamily="34" charset="0"/>
                        </a:rPr>
                        <a:t>Generación emisiones por fuentes móviles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aire </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5"/>
                  </a:ext>
                </a:extLst>
              </a:tr>
              <a:tr h="102001">
                <a:tc>
                  <a:txBody>
                    <a:bodyPr/>
                    <a:lstStyle/>
                    <a:p>
                      <a:pPr algn="l" fontAlgn="b"/>
                      <a:r>
                        <a:rPr lang="es-CO" sz="1400" u="none" strike="noStrike" dirty="0">
                          <a:effectLst/>
                          <a:latin typeface="Arial" pitchFamily="34" charset="0"/>
                          <a:cs typeface="Arial" pitchFamily="34" charset="0"/>
                        </a:rPr>
                        <a:t>Generación de residuos peligrosos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Contaminación del suelo y del aire</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06"/>
                  </a:ext>
                </a:extLst>
              </a:tr>
              <a:tr h="102001">
                <a:tc>
                  <a:txBody>
                    <a:bodyPr/>
                    <a:lstStyle/>
                    <a:p>
                      <a:pPr algn="l" fontAlgn="b"/>
                      <a:r>
                        <a:rPr lang="es-CO" sz="1400" u="none" strike="noStrike" dirty="0">
                          <a:effectLst/>
                          <a:latin typeface="Arial" pitchFamily="34" charset="0"/>
                          <a:cs typeface="Arial" pitchFamily="34" charset="0"/>
                        </a:rPr>
                        <a:t>Generación de residuos peligrosos (aceites usados)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Aprovechamiento de hidrocarburos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07"/>
                  </a:ext>
                </a:extLst>
              </a:tr>
              <a:tr h="102001">
                <a:tc>
                  <a:txBody>
                    <a:bodyPr/>
                    <a:lstStyle/>
                    <a:p>
                      <a:pPr algn="l" fontAlgn="b"/>
                      <a:r>
                        <a:rPr lang="es-CO" sz="1400" u="none" strike="noStrike" dirty="0">
                          <a:effectLst/>
                          <a:latin typeface="Arial" pitchFamily="34" charset="0"/>
                          <a:cs typeface="Arial" pitchFamily="34" charset="0"/>
                        </a:rPr>
                        <a:t>Generación de residuos especiales (llantas usadas)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Aprovechamiento del material</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08"/>
                  </a:ext>
                </a:extLst>
              </a:tr>
              <a:tr h="102001">
                <a:tc>
                  <a:txBody>
                    <a:bodyPr/>
                    <a:lstStyle/>
                    <a:p>
                      <a:pPr algn="just" fontAlgn="ctr"/>
                      <a:r>
                        <a:rPr lang="es-CO" sz="1400" u="none" strike="noStrike" dirty="0">
                          <a:effectLst/>
                          <a:latin typeface="Arial" pitchFamily="34" charset="0"/>
                          <a:cs typeface="Arial" pitchFamily="34" charset="0"/>
                        </a:rPr>
                        <a:t>Generación de residuos reciclables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Reducción del impacto en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9"/>
                  </a:ext>
                </a:extLst>
              </a:tr>
              <a:tr h="102001">
                <a:tc>
                  <a:txBody>
                    <a:bodyPr/>
                    <a:lstStyle/>
                    <a:p>
                      <a:pPr algn="l" fontAlgn="b"/>
                      <a:r>
                        <a:rPr lang="es-CO" sz="1400" u="none" strike="noStrike" dirty="0">
                          <a:effectLst/>
                          <a:latin typeface="Arial" pitchFamily="34" charset="0"/>
                          <a:cs typeface="Arial" pitchFamily="34" charset="0"/>
                        </a:rPr>
                        <a:t>Generación de vertimientos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Contaminación del agua</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10"/>
                  </a:ext>
                </a:extLst>
              </a:tr>
              <a:tr h="102001">
                <a:tc>
                  <a:txBody>
                    <a:bodyPr/>
                    <a:lstStyle/>
                    <a:p>
                      <a:pPr algn="l" fontAlgn="b"/>
                      <a:r>
                        <a:rPr lang="es-CO" sz="1400" u="none" strike="noStrike" dirty="0">
                          <a:effectLst/>
                          <a:latin typeface="Arial" pitchFamily="34" charset="0"/>
                          <a:cs typeface="Arial" pitchFamily="34" charset="0"/>
                        </a:rPr>
                        <a:t>Consumo de Energía</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s-CO" sz="1400" u="none" strike="noStrike" dirty="0">
                          <a:effectLst/>
                          <a:latin typeface="Arial" pitchFamily="34" charset="0"/>
                          <a:cs typeface="Arial" pitchFamily="34" charset="0"/>
                        </a:rPr>
                        <a:t>Agotamiento de los recursos naturales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11"/>
                  </a:ext>
                </a:extLst>
              </a:tr>
              <a:tr h="102001">
                <a:tc>
                  <a:txBody>
                    <a:bodyPr/>
                    <a:lstStyle/>
                    <a:p>
                      <a:pPr algn="just" fontAlgn="ctr"/>
                      <a:r>
                        <a:rPr lang="es-CO" sz="1400" u="none" strike="noStrike" dirty="0">
                          <a:effectLst/>
                          <a:latin typeface="Arial" pitchFamily="34" charset="0"/>
                          <a:cs typeface="Arial" pitchFamily="34" charset="0"/>
                        </a:rPr>
                        <a:t>Generación de residuos ordinarios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12"/>
                  </a:ext>
                </a:extLst>
              </a:tr>
            </a:tbl>
          </a:graphicData>
        </a:graphic>
      </p:graphicFrame>
      <p:sp>
        <p:nvSpPr>
          <p:cNvPr id="7" name="CuadroTexto 6"/>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5086" y="498331"/>
            <a:ext cx="1711839" cy="432622"/>
          </a:xfrm>
          <a:prstGeom prst="rect">
            <a:avLst/>
          </a:prstGeom>
        </p:spPr>
      </p:pic>
    </p:spTree>
    <p:extLst>
      <p:ext uri="{BB962C8B-B14F-4D97-AF65-F5344CB8AC3E}">
        <p14:creationId xmlns:p14="http://schemas.microsoft.com/office/powerpoint/2010/main" val="3890194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ctrTitle"/>
          </p:nvPr>
        </p:nvSpPr>
        <p:spPr>
          <a:xfrm>
            <a:off x="412124" y="58462"/>
            <a:ext cx="6555346" cy="1535345"/>
          </a:xfrm>
        </p:spPr>
        <p:txBody>
          <a:bodyPr>
            <a:noAutofit/>
          </a:bodyPr>
          <a:lstStyle/>
          <a:p>
            <a:r>
              <a:rPr lang="es-CO" sz="4800" dirty="0">
                <a:latin typeface="Arial" panose="020B0604020202020204" pitchFamily="34" charset="0"/>
                <a:cs typeface="Arial" panose="020B0604020202020204" pitchFamily="34" charset="0"/>
              </a:rPr>
              <a:t>Impactos Ambientales</a:t>
            </a:r>
            <a:endParaRPr lang="es-CO" sz="4800" b="1" dirty="0">
              <a:latin typeface="Arial" panose="020B0604020202020204" pitchFamily="34" charset="0"/>
              <a:cs typeface="Arial" panose="020B0604020202020204" pitchFamily="34" charset="0"/>
            </a:endParaRPr>
          </a:p>
        </p:txBody>
      </p:sp>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4" name="Tabla 3"/>
          <p:cNvGraphicFramePr>
            <a:graphicFrameLocks noGrp="1"/>
          </p:cNvGraphicFramePr>
          <p:nvPr>
            <p:extLst>
              <p:ext uri="{D42A27DB-BD31-4B8C-83A1-F6EECF244321}">
                <p14:modId xmlns:p14="http://schemas.microsoft.com/office/powerpoint/2010/main" val="1989521345"/>
              </p:ext>
            </p:extLst>
          </p:nvPr>
        </p:nvGraphicFramePr>
        <p:xfrm>
          <a:off x="654868" y="2358211"/>
          <a:ext cx="7988810" cy="2346960"/>
        </p:xfrm>
        <a:graphic>
          <a:graphicData uri="http://schemas.openxmlformats.org/drawingml/2006/table">
            <a:tbl>
              <a:tblPr>
                <a:tableStyleId>{D7AC3CCA-C797-4891-BE02-D94E43425B78}</a:tableStyleId>
              </a:tblPr>
              <a:tblGrid>
                <a:gridCol w="4147610">
                  <a:extLst>
                    <a:ext uri="{9D8B030D-6E8A-4147-A177-3AD203B41FA5}">
                      <a16:colId xmlns:a16="http://schemas.microsoft.com/office/drawing/2014/main" val="20000"/>
                    </a:ext>
                  </a:extLst>
                </a:gridCol>
                <a:gridCol w="3841200">
                  <a:extLst>
                    <a:ext uri="{9D8B030D-6E8A-4147-A177-3AD203B41FA5}">
                      <a16:colId xmlns:a16="http://schemas.microsoft.com/office/drawing/2014/main" val="20001"/>
                    </a:ext>
                  </a:extLst>
                </a:gridCol>
              </a:tblGrid>
              <a:tr h="95491">
                <a:tc>
                  <a:txBody>
                    <a:bodyPr/>
                    <a:lstStyle/>
                    <a:p>
                      <a:pPr algn="ctr" fontAlgn="ctr"/>
                      <a:r>
                        <a:rPr lang="es-CO" sz="1400" u="none" strike="noStrike" dirty="0">
                          <a:solidFill>
                            <a:schemeClr val="bg1"/>
                          </a:solidFill>
                          <a:effectLst/>
                          <a:latin typeface="Arial" pitchFamily="34" charset="0"/>
                          <a:cs typeface="Arial" pitchFamily="34" charset="0"/>
                        </a:rPr>
                        <a:t>Aspecto ambiental</a:t>
                      </a:r>
                      <a:endParaRPr lang="es-CO" sz="1400" b="1" i="0" u="none" strike="noStrike" dirty="0">
                        <a:solidFill>
                          <a:schemeClr val="bg1"/>
                        </a:solidFill>
                        <a:effectLst/>
                        <a:latin typeface="Arial" panose="020B0604020202020204" pitchFamily="34" charset="0"/>
                        <a:cs typeface="Arial" pitchFamily="34" charset="0"/>
                      </a:endParaRPr>
                    </a:p>
                  </a:txBody>
                  <a:tcPr marL="0" marR="0" marT="0" marB="0" anchor="ctr">
                    <a:solidFill>
                      <a:schemeClr val="tx1"/>
                    </a:solidFill>
                  </a:tcPr>
                </a:tc>
                <a:tc>
                  <a:txBody>
                    <a:bodyPr/>
                    <a:lstStyle/>
                    <a:p>
                      <a:pPr algn="ctr" fontAlgn="ctr"/>
                      <a:r>
                        <a:rPr lang="es-CO" sz="1400" u="none" strike="noStrike" dirty="0">
                          <a:solidFill>
                            <a:schemeClr val="bg1"/>
                          </a:solidFill>
                          <a:effectLst/>
                          <a:latin typeface="Arial" pitchFamily="34" charset="0"/>
                          <a:cs typeface="Arial" pitchFamily="34" charset="0"/>
                        </a:rPr>
                        <a:t>Impacto Ambiental</a:t>
                      </a:r>
                      <a:endParaRPr lang="es-CO" sz="1400" b="1" i="0" u="none" strike="noStrike" dirty="0">
                        <a:solidFill>
                          <a:schemeClr val="bg1"/>
                        </a:solidFill>
                        <a:effectLst/>
                        <a:latin typeface="Arial" panose="020B0604020202020204" pitchFamily="34" charset="0"/>
                        <a:cs typeface="Arial" pitchFamily="34" charset="0"/>
                      </a:endParaRPr>
                    </a:p>
                  </a:txBody>
                  <a:tcPr marL="0" marR="0" marT="0" marB="0" anchor="ctr">
                    <a:solidFill>
                      <a:schemeClr val="tx1"/>
                    </a:solidFill>
                  </a:tcPr>
                </a:tc>
                <a:extLst>
                  <a:ext uri="{0D108BD9-81ED-4DB2-BD59-A6C34878D82A}">
                    <a16:rowId xmlns:a16="http://schemas.microsoft.com/office/drawing/2014/main" val="10000"/>
                  </a:ext>
                </a:extLst>
              </a:tr>
              <a:tr h="102001">
                <a:tc>
                  <a:txBody>
                    <a:bodyPr/>
                    <a:lstStyle/>
                    <a:p>
                      <a:pPr algn="just" fontAlgn="ctr"/>
                      <a:r>
                        <a:rPr lang="es-CO" sz="1400" u="none" strike="noStrike" dirty="0">
                          <a:effectLst/>
                          <a:latin typeface="Arial" pitchFamily="34" charset="0"/>
                          <a:cs typeface="Arial" pitchFamily="34" charset="0"/>
                        </a:rPr>
                        <a:t>Sismo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del aire, contaminación del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1"/>
                  </a:ext>
                </a:extLst>
              </a:tr>
              <a:tr h="102001">
                <a:tc>
                  <a:txBody>
                    <a:bodyPr/>
                    <a:lstStyle/>
                    <a:p>
                      <a:pPr algn="just" fontAlgn="ctr"/>
                      <a:r>
                        <a:rPr lang="es-CO" sz="1400" u="none" strike="noStrike">
                          <a:effectLst/>
                          <a:latin typeface="Arial" pitchFamily="34" charset="0"/>
                          <a:cs typeface="Arial" pitchFamily="34" charset="0"/>
                        </a:rPr>
                        <a:t>Incendios</a:t>
                      </a:r>
                      <a:endParaRPr lang="es-CO" sz="1400" b="0" i="0" u="none" strike="noStrike">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del aire, contaminación del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2"/>
                  </a:ext>
                </a:extLst>
              </a:tr>
              <a:tr h="102001">
                <a:tc>
                  <a:txBody>
                    <a:bodyPr/>
                    <a:lstStyle/>
                    <a:p>
                      <a:pPr algn="just" fontAlgn="ctr"/>
                      <a:r>
                        <a:rPr lang="es-CO" sz="1400" u="none" strike="noStrike">
                          <a:effectLst/>
                          <a:latin typeface="Arial" pitchFamily="34" charset="0"/>
                          <a:cs typeface="Arial" pitchFamily="34" charset="0"/>
                        </a:rPr>
                        <a:t>Indundaciones/tormentas eléctricas</a:t>
                      </a:r>
                      <a:endParaRPr lang="es-CO" sz="1400" b="0" i="0" u="none" strike="noStrike">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 los recursos naturales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3"/>
                  </a:ext>
                </a:extLst>
              </a:tr>
              <a:tr h="102001">
                <a:tc>
                  <a:txBody>
                    <a:bodyPr/>
                    <a:lstStyle/>
                    <a:p>
                      <a:pPr algn="just" fontAlgn="ctr"/>
                      <a:r>
                        <a:rPr lang="es-CO" sz="1400" u="none" strike="noStrike">
                          <a:effectLst/>
                          <a:latin typeface="Arial" pitchFamily="34" charset="0"/>
                          <a:cs typeface="Arial" pitchFamily="34" charset="0"/>
                        </a:rPr>
                        <a:t>Colapso de la estructura</a:t>
                      </a:r>
                      <a:endParaRPr lang="es-CO" sz="1400" b="0" i="0" u="none" strike="noStrike">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del aire, contaminación del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4"/>
                  </a:ext>
                </a:extLst>
              </a:tr>
              <a:tr h="190981">
                <a:tc>
                  <a:txBody>
                    <a:bodyPr/>
                    <a:lstStyle/>
                    <a:p>
                      <a:pPr algn="just" fontAlgn="ctr"/>
                      <a:r>
                        <a:rPr lang="es-CO" sz="1400" u="none" strike="noStrike" dirty="0">
                          <a:effectLst/>
                          <a:latin typeface="Arial" pitchFamily="34" charset="0"/>
                          <a:cs typeface="Arial" pitchFamily="34" charset="0"/>
                        </a:rPr>
                        <a:t>Sismo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del aire, contaminación del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5"/>
                  </a:ext>
                </a:extLst>
              </a:tr>
              <a:tr h="102001">
                <a:tc>
                  <a:txBody>
                    <a:bodyPr/>
                    <a:lstStyle/>
                    <a:p>
                      <a:pPr algn="just" fontAlgn="ctr"/>
                      <a:r>
                        <a:rPr lang="es-CO" sz="1400" u="none" strike="noStrike">
                          <a:effectLst/>
                          <a:latin typeface="Arial" pitchFamily="34" charset="0"/>
                          <a:cs typeface="Arial" pitchFamily="34" charset="0"/>
                        </a:rPr>
                        <a:t>Incendios</a:t>
                      </a:r>
                      <a:endParaRPr lang="es-CO" sz="1400" b="0" i="0" u="none" strike="noStrike">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del aire, contaminación del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6"/>
                  </a:ext>
                </a:extLst>
              </a:tr>
              <a:tr h="102001">
                <a:tc>
                  <a:txBody>
                    <a:bodyPr/>
                    <a:lstStyle/>
                    <a:p>
                      <a:pPr algn="just" fontAlgn="ctr"/>
                      <a:r>
                        <a:rPr lang="es-CO" sz="1400" u="none" strike="noStrike">
                          <a:effectLst/>
                          <a:latin typeface="Arial" pitchFamily="34" charset="0"/>
                          <a:cs typeface="Arial" pitchFamily="34" charset="0"/>
                        </a:rPr>
                        <a:t>Indundaciones/tormentas eléctricas</a:t>
                      </a:r>
                      <a:endParaRPr lang="es-CO" sz="1400" b="0" i="0" u="none" strike="noStrike">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 los recursos naturales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7"/>
                  </a:ext>
                </a:extLst>
              </a:tr>
              <a:tr h="102001">
                <a:tc>
                  <a:txBody>
                    <a:bodyPr/>
                    <a:lstStyle/>
                    <a:p>
                      <a:pPr algn="just" fontAlgn="ctr"/>
                      <a:r>
                        <a:rPr lang="es-CO" sz="1400" u="none" strike="noStrike">
                          <a:effectLst/>
                          <a:latin typeface="Arial" pitchFamily="34" charset="0"/>
                          <a:cs typeface="Arial" pitchFamily="34" charset="0"/>
                        </a:rPr>
                        <a:t>Colapso de la estructura</a:t>
                      </a:r>
                      <a:endParaRPr lang="es-CO" sz="1400" b="0" i="0" u="none" strike="noStrike">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del aire, contaminación del suelo</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8"/>
                  </a:ext>
                </a:extLst>
              </a:tr>
              <a:tr h="102001">
                <a:tc>
                  <a:txBody>
                    <a:bodyPr/>
                    <a:lstStyle/>
                    <a:p>
                      <a:pPr algn="just" fontAlgn="ctr"/>
                      <a:r>
                        <a:rPr lang="es-CO" sz="1400" u="none" strike="noStrike" dirty="0">
                          <a:effectLst/>
                          <a:latin typeface="Arial" pitchFamily="34" charset="0"/>
                          <a:cs typeface="Arial" pitchFamily="34" charset="0"/>
                        </a:rPr>
                        <a:t>Generación aguas residuales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tc>
                  <a:txBody>
                    <a:bodyPr/>
                    <a:lstStyle/>
                    <a:p>
                      <a:pPr algn="just" fontAlgn="ctr"/>
                      <a:r>
                        <a:rPr lang="es-CO" sz="1400" u="none" strike="noStrike" dirty="0">
                          <a:effectLst/>
                          <a:latin typeface="Arial" pitchFamily="34" charset="0"/>
                          <a:cs typeface="Arial" pitchFamily="34" charset="0"/>
                        </a:rPr>
                        <a:t>Contaminación agua.</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ctr"/>
                </a:tc>
                <a:extLst>
                  <a:ext uri="{0D108BD9-81ED-4DB2-BD59-A6C34878D82A}">
                    <a16:rowId xmlns:a16="http://schemas.microsoft.com/office/drawing/2014/main" val="10009"/>
                  </a:ext>
                </a:extLst>
              </a:tr>
              <a:tr h="102001">
                <a:tc>
                  <a:txBody>
                    <a:bodyPr/>
                    <a:lstStyle/>
                    <a:p>
                      <a:pPr algn="l" fontAlgn="b"/>
                      <a:r>
                        <a:rPr lang="es-CO" sz="1400" u="none" strike="noStrike" dirty="0">
                          <a:effectLst/>
                          <a:latin typeface="Arial" pitchFamily="34" charset="0"/>
                          <a:cs typeface="Arial" pitchFamily="34" charset="0"/>
                        </a:rPr>
                        <a:t>Generación de emisiones fuentes fijas</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tc>
                  <a:txBody>
                    <a:bodyPr/>
                    <a:lstStyle/>
                    <a:p>
                      <a:pPr algn="l" fontAlgn="b"/>
                      <a:r>
                        <a:rPr lang="es-CO" sz="1400" u="none" strike="noStrike" dirty="0">
                          <a:effectLst/>
                          <a:latin typeface="Arial" pitchFamily="34" charset="0"/>
                          <a:cs typeface="Arial" pitchFamily="34" charset="0"/>
                        </a:rPr>
                        <a:t> Contaminación del aire.</a:t>
                      </a:r>
                      <a:endParaRPr lang="es-CO" sz="1400" b="0" i="0" u="none" strike="noStrike" dirty="0">
                        <a:solidFill>
                          <a:srgbClr val="000000"/>
                        </a:solidFill>
                        <a:effectLst/>
                        <a:latin typeface="Arial" panose="020B0604020202020204" pitchFamily="34" charset="0"/>
                        <a:cs typeface="Arial" pitchFamily="34" charset="0"/>
                      </a:endParaRPr>
                    </a:p>
                  </a:txBody>
                  <a:tcPr marL="0" marR="0" marT="0" marB="0" anchor="b"/>
                </a:tc>
                <a:extLst>
                  <a:ext uri="{0D108BD9-81ED-4DB2-BD59-A6C34878D82A}">
                    <a16:rowId xmlns:a16="http://schemas.microsoft.com/office/drawing/2014/main" val="10010"/>
                  </a:ext>
                </a:extLst>
              </a:tr>
            </a:tbl>
          </a:graphicData>
        </a:graphic>
      </p:graphicFrame>
      <p:sp>
        <p:nvSpPr>
          <p:cNvPr id="7" name="CuadroTexto 6"/>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67470" y="635375"/>
            <a:ext cx="1509623" cy="381517"/>
          </a:xfrm>
          <a:prstGeom prst="rect">
            <a:avLst/>
          </a:prstGeom>
        </p:spPr>
      </p:pic>
    </p:spTree>
    <p:extLst>
      <p:ext uri="{BB962C8B-B14F-4D97-AF65-F5344CB8AC3E}">
        <p14:creationId xmlns:p14="http://schemas.microsoft.com/office/powerpoint/2010/main" val="1304315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redondeado 7"/>
          <p:cNvSpPr/>
          <p:nvPr/>
        </p:nvSpPr>
        <p:spPr>
          <a:xfrm>
            <a:off x="412124" y="270456"/>
            <a:ext cx="8474299" cy="628489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2" name="1 Tabla"/>
          <p:cNvGraphicFramePr>
            <a:graphicFrameLocks noGrp="1"/>
          </p:cNvGraphicFramePr>
          <p:nvPr>
            <p:extLst>
              <p:ext uri="{D42A27DB-BD31-4B8C-83A1-F6EECF244321}">
                <p14:modId xmlns:p14="http://schemas.microsoft.com/office/powerpoint/2010/main" val="3582889152"/>
              </p:ext>
            </p:extLst>
          </p:nvPr>
        </p:nvGraphicFramePr>
        <p:xfrm>
          <a:off x="1049019" y="1416444"/>
          <a:ext cx="7207877" cy="1381760"/>
        </p:xfrm>
        <a:graphic>
          <a:graphicData uri="http://schemas.openxmlformats.org/drawingml/2006/table">
            <a:tbl>
              <a:tblPr firstRow="1" bandRow="1">
                <a:tableStyleId>{5940675A-B579-460E-94D1-54222C63F5DA}</a:tableStyleId>
              </a:tblPr>
              <a:tblGrid>
                <a:gridCol w="1241973">
                  <a:extLst>
                    <a:ext uri="{9D8B030D-6E8A-4147-A177-3AD203B41FA5}">
                      <a16:colId xmlns:a16="http://schemas.microsoft.com/office/drawing/2014/main" val="20000"/>
                    </a:ext>
                  </a:extLst>
                </a:gridCol>
                <a:gridCol w="3376613">
                  <a:extLst>
                    <a:ext uri="{9D8B030D-6E8A-4147-A177-3AD203B41FA5}">
                      <a16:colId xmlns:a16="http://schemas.microsoft.com/office/drawing/2014/main" val="20001"/>
                    </a:ext>
                  </a:extLst>
                </a:gridCol>
                <a:gridCol w="2589291">
                  <a:extLst>
                    <a:ext uri="{9D8B030D-6E8A-4147-A177-3AD203B41FA5}">
                      <a16:colId xmlns:a16="http://schemas.microsoft.com/office/drawing/2014/main" val="20002"/>
                    </a:ext>
                  </a:extLst>
                </a:gridCol>
              </a:tblGrid>
              <a:tr h="370840">
                <a:tc>
                  <a:txBody>
                    <a:bodyPr/>
                    <a:lstStyle/>
                    <a:p>
                      <a:endParaRPr lang="es-CO" dirty="0"/>
                    </a:p>
                  </a:txBody>
                  <a:tcPr/>
                </a:tc>
                <a:tc>
                  <a:txBody>
                    <a:bodyPr/>
                    <a:lstStyle/>
                    <a:p>
                      <a:r>
                        <a:rPr lang="es-CO" dirty="0"/>
                        <a:t>Revisó</a:t>
                      </a:r>
                    </a:p>
                  </a:txBody>
                  <a:tcPr/>
                </a:tc>
                <a:tc>
                  <a:txBody>
                    <a:bodyPr/>
                    <a:lstStyle/>
                    <a:p>
                      <a:r>
                        <a:rPr lang="es-CO" dirty="0"/>
                        <a:t>Aprobó</a:t>
                      </a:r>
                    </a:p>
                  </a:txBody>
                  <a:tcPr/>
                </a:tc>
                <a:extLst>
                  <a:ext uri="{0D108BD9-81ED-4DB2-BD59-A6C34878D82A}">
                    <a16:rowId xmlns:a16="http://schemas.microsoft.com/office/drawing/2014/main" val="10000"/>
                  </a:ext>
                </a:extLst>
              </a:tr>
              <a:tr h="370840">
                <a:tc>
                  <a:txBody>
                    <a:bodyPr/>
                    <a:lstStyle/>
                    <a:p>
                      <a:r>
                        <a:rPr lang="es-CO" dirty="0"/>
                        <a:t>Nombre</a:t>
                      </a:r>
                    </a:p>
                  </a:txBody>
                  <a:tcPr/>
                </a:tc>
                <a:tc>
                  <a:txBody>
                    <a:bodyPr/>
                    <a:lstStyle/>
                    <a:p>
                      <a:r>
                        <a:rPr lang="es-ES"/>
                        <a:t>Laura Mejía </a:t>
                      </a:r>
                      <a:endParaRPr lang="es-CO" dirty="0"/>
                    </a:p>
                  </a:txBody>
                  <a:tcPr/>
                </a:tc>
                <a:tc>
                  <a:txBody>
                    <a:bodyPr/>
                    <a:lstStyle/>
                    <a:p>
                      <a:r>
                        <a:rPr lang="es-CO" dirty="0"/>
                        <a:t>Gladys Muñoz</a:t>
                      </a:r>
                    </a:p>
                  </a:txBody>
                  <a:tcPr/>
                </a:tc>
                <a:extLst>
                  <a:ext uri="{0D108BD9-81ED-4DB2-BD59-A6C34878D82A}">
                    <a16:rowId xmlns:a16="http://schemas.microsoft.com/office/drawing/2014/main" val="10001"/>
                  </a:ext>
                </a:extLst>
              </a:tr>
              <a:tr h="370840">
                <a:tc>
                  <a:txBody>
                    <a:bodyPr/>
                    <a:lstStyle/>
                    <a:p>
                      <a:r>
                        <a:rPr lang="es-CO" dirty="0"/>
                        <a:t>Cargo</a:t>
                      </a:r>
                    </a:p>
                  </a:txBody>
                  <a:tcPr/>
                </a:tc>
                <a:tc>
                  <a:txBody>
                    <a:bodyPr/>
                    <a:lstStyle/>
                    <a:p>
                      <a:r>
                        <a:rPr lang="es-ES" dirty="0"/>
                        <a:t>Coordinador de calidad y productividad </a:t>
                      </a:r>
                      <a:endParaRPr lang="es-CO" dirty="0"/>
                    </a:p>
                  </a:txBody>
                  <a:tcPr/>
                </a:tc>
                <a:tc>
                  <a:txBody>
                    <a:bodyPr/>
                    <a:lstStyle/>
                    <a:p>
                      <a:r>
                        <a:rPr lang="es-CO" dirty="0"/>
                        <a:t>Sub-Gerente</a:t>
                      </a:r>
                    </a:p>
                  </a:txBody>
                  <a:tcPr/>
                </a:tc>
                <a:extLst>
                  <a:ext uri="{0D108BD9-81ED-4DB2-BD59-A6C34878D82A}">
                    <a16:rowId xmlns:a16="http://schemas.microsoft.com/office/drawing/2014/main" val="10002"/>
                  </a:ext>
                </a:extLst>
              </a:tr>
            </a:tbl>
          </a:graphicData>
        </a:graphic>
      </p:graphicFrame>
      <p:sp>
        <p:nvSpPr>
          <p:cNvPr id="6" name="CuadroTexto 5"/>
          <p:cNvSpPr txBox="1"/>
          <p:nvPr/>
        </p:nvSpPr>
        <p:spPr>
          <a:xfrm>
            <a:off x="7344358" y="6001889"/>
            <a:ext cx="912538" cy="279869"/>
          </a:xfrm>
          <a:prstGeom prst="rect">
            <a:avLst/>
          </a:prstGeom>
          <a:noFill/>
        </p:spPr>
        <p:txBody>
          <a:bodyPr wrap="square" rtlCol="0">
            <a:spAutoFit/>
          </a:bodyPr>
          <a:lstStyle/>
          <a:p>
            <a:r>
              <a:rPr lang="es-419" sz="1200" dirty="0"/>
              <a:t>CSGI-DG-03</a:t>
            </a:r>
            <a:endParaRPr lang="es-ES" sz="1200"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7283" y="481039"/>
            <a:ext cx="1959613" cy="495240"/>
          </a:xfrm>
          <a:prstGeom prst="rect">
            <a:avLst/>
          </a:prstGeom>
        </p:spPr>
      </p:pic>
    </p:spTree>
    <p:extLst>
      <p:ext uri="{BB962C8B-B14F-4D97-AF65-F5344CB8AC3E}">
        <p14:creationId xmlns:p14="http://schemas.microsoft.com/office/powerpoint/2010/main" val="1448494386"/>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3178</TotalTime>
  <Words>1702</Words>
  <Application>Microsoft Office PowerPoint</Application>
  <PresentationFormat>Presentación en pantalla (4:3)</PresentationFormat>
  <Paragraphs>248</Paragraphs>
  <Slides>25</Slides>
  <Notes>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Arial</vt:lpstr>
      <vt:lpstr>Calibri</vt:lpstr>
      <vt:lpstr>Calibri Light</vt:lpstr>
      <vt:lpstr>Times New Roman</vt:lpstr>
      <vt:lpstr>Wingdings</vt:lpstr>
      <vt:lpstr>Tema de Office</vt:lpstr>
      <vt:lpstr>MANUAL DEL SISTEMA DE GESTIÓN INTEGRADO</vt:lpstr>
      <vt:lpstr>RESEÑA HISTORICA</vt:lpstr>
      <vt:lpstr>¿Qué buscamos?</vt:lpstr>
      <vt:lpstr>¿Qué buscamos?</vt:lpstr>
      <vt:lpstr>Nuestros Valores:</vt:lpstr>
      <vt:lpstr>Nuestros Alcance:</vt:lpstr>
      <vt:lpstr>NO APLICABILIDAD:</vt:lpstr>
      <vt:lpstr> Propiedad del Cliente :</vt:lpstr>
      <vt:lpstr> Requisitos Legales</vt:lpstr>
      <vt:lpstr> Riesgos</vt:lpstr>
      <vt:lpstr> Nuestros Procedimientos y Caracterizaciones </vt:lpstr>
      <vt:lpstr>Procedimientos Obligatorios ISO 9001</vt:lpstr>
      <vt:lpstr>ORGANIGRAMA</vt:lpstr>
      <vt:lpstr>SISTEMA DE GESTIÓN INTEGRADO</vt:lpstr>
      <vt:lpstr>Presentación de PowerPoint</vt:lpstr>
      <vt:lpstr>Presentación de PowerPoint</vt:lpstr>
      <vt:lpstr>¿Por qué Certificarnos?</vt:lpstr>
      <vt:lpstr>POLITICA DE GESTIÓN INTEGRAL</vt:lpstr>
      <vt:lpstr>Nuestros Pilares:</vt:lpstr>
      <vt:lpstr>Nuestros Pilares:</vt:lpstr>
      <vt:lpstr>Nuestros Pilares:</vt:lpstr>
      <vt:lpstr>Objetivos del SGI:</vt:lpstr>
      <vt:lpstr>Impactos Ambientales</vt:lpstr>
      <vt:lpstr>Impactos Ambientales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¿Porqué certificarnos?</dc:title>
  <dc:creator>Sara</dc:creator>
  <cp:lastModifiedBy>Gladys Muñoz</cp:lastModifiedBy>
  <cp:revision>290</cp:revision>
  <dcterms:created xsi:type="dcterms:W3CDTF">2015-08-25T19:16:17Z</dcterms:created>
  <dcterms:modified xsi:type="dcterms:W3CDTF">2026-02-11T19:10:57Z</dcterms:modified>
</cp:coreProperties>
</file>